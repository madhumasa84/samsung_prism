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349" autoAdjust="0"/>
    <p:restoredTop sz="94660"/>
  </p:normalViewPr>
  <p:slideViewPr>
    <p:cSldViewPr snapToGrid="0">
      <p:cViewPr>
        <p:scale>
          <a:sx n="191" d="100"/>
          <a:sy n="191" d="100"/>
        </p:scale>
        <p:origin x="144" y="-1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lstStyle/>
          <a:p>
            <a:endParaR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282696"/>
            <a:ext cx="6126480" cy="1843284"/>
          </a:xfrm>
          <a:prstGeom prst="rect">
            <a:avLst/>
          </a:prstGeom>
          <a:noFill/>
          <a:ln/>
        </p:spPr>
        <p:txBody>
          <a:bodyPr wrap="square" lIns="36576" tIns="36576" rIns="36576" bIns="36576" rtlCol="0" anchor="t"/>
          <a:lstStyle/>
          <a:p>
            <a:pPr marL="285750" indent="-285750">
              <a:spcAft>
                <a:spcPts val="500"/>
              </a:spcAft>
              <a:buSzPct val="100000"/>
              <a:buFont typeface="Arial" panose="020B0604020202020204" pitchFamily="34" charset="0"/>
              <a:buChar char="•"/>
            </a:pPr>
            <a:r>
              <a:rPr lang="en-IN" sz="1400" dirty="0">
                <a:solidFill>
                  <a:srgbClr val="5C5B6E"/>
                </a:solidFill>
                <a:latin typeface="Aptos"/>
              </a:rPr>
              <a:t>Theme 04 - Streaming Live RAG</a:t>
            </a:r>
          </a:p>
          <a:p>
            <a:pPr marL="285750" indent="-285750">
              <a:spcAft>
                <a:spcPts val="500"/>
              </a:spcAft>
              <a:buSzPct val="100000"/>
              <a:buFont typeface="Arial" panose="020B0604020202020204" pitchFamily="34" charset="0"/>
              <a:buChar char="•"/>
            </a:pPr>
            <a:r>
              <a:rPr lang="en-IN" sz="1400" dirty="0">
                <a:solidFill>
                  <a:srgbClr val="5C5B6E"/>
                </a:solidFill>
                <a:latin typeface="Aptos"/>
              </a:rPr>
              <a:t>Team Makar </a:t>
            </a:r>
          </a:p>
          <a:p>
            <a:pPr marL="285750" indent="-285750">
              <a:spcAft>
                <a:spcPts val="500"/>
              </a:spcAft>
              <a:buSzPct val="100000"/>
              <a:buFont typeface="Arial" panose="020B0604020202020204" pitchFamily="34" charset="0"/>
              <a:buChar char="•"/>
            </a:pPr>
            <a:r>
              <a:rPr lang="en-IN" sz="1400" dirty="0">
                <a:solidFill>
                  <a:srgbClr val="5C5B6E"/>
                </a:solidFill>
                <a:latin typeface="Aptos"/>
              </a:rPr>
              <a:t>Vellore Institute of Technology, Vellore</a:t>
            </a:r>
            <a:r>
              <a:rPr sz="1400" b="0" dirty="0">
                <a:solidFill>
                  <a:srgbClr val="5C5B6E"/>
                </a:solidFill>
                <a:latin typeface="Aptos"/>
              </a:rPr>
              <a:t>
Member 1 </a:t>
            </a:r>
            <a:r>
              <a:rPr lang="en-US" sz="1400" dirty="0">
                <a:solidFill>
                  <a:srgbClr val="5C5B6E"/>
                </a:solidFill>
                <a:latin typeface="Aptos"/>
              </a:rPr>
              <a:t>- </a:t>
            </a:r>
            <a:r>
              <a:rPr sz="1400" b="0" dirty="0">
                <a:solidFill>
                  <a:srgbClr val="5C5B6E"/>
                </a:solidFill>
                <a:latin typeface="Aptos"/>
              </a:rPr>
              <a:t>Madhusudhanan G</a:t>
            </a:r>
            <a:r>
              <a:rPr lang="en-US" sz="1400" dirty="0">
                <a:solidFill>
                  <a:srgbClr val="5C5B6E"/>
                </a:solidFill>
                <a:latin typeface="Aptos"/>
              </a:rPr>
              <a:t> &amp; madhusudhanan.g2023@vitstudent.ac.in</a:t>
            </a:r>
            <a:r>
              <a:rPr sz="1400" b="0" dirty="0">
                <a:solidFill>
                  <a:srgbClr val="5C5B6E"/>
                </a:solidFill>
                <a:latin typeface="Aptos"/>
              </a:rPr>
              <a:t>
Member 2 </a:t>
            </a:r>
            <a:r>
              <a:rPr lang="en-US" sz="1400" b="0" dirty="0">
                <a:solidFill>
                  <a:srgbClr val="5C5B6E"/>
                </a:solidFill>
                <a:latin typeface="Aptos"/>
              </a:rPr>
              <a:t>-</a:t>
            </a:r>
            <a:r>
              <a:rPr sz="1400" b="0" dirty="0">
                <a:solidFill>
                  <a:srgbClr val="5C5B6E"/>
                </a:solidFill>
                <a:latin typeface="Aptos"/>
              </a:rPr>
              <a:t> Karthikeya P</a:t>
            </a:r>
            <a:r>
              <a:rPr lang="en-US" sz="1400" dirty="0">
                <a:solidFill>
                  <a:srgbClr val="5C5B6E"/>
                </a:solidFill>
                <a:latin typeface="Aptos"/>
              </a:rPr>
              <a:t> &amp; karthikeya.p2024@vitstudent.ac.in</a:t>
            </a:r>
            <a:r>
              <a:rPr lang="en-IN" sz="1400" b="0" dirty="0">
                <a:solidFill>
                  <a:srgbClr val="5C5B6E"/>
                </a:solidFill>
                <a:latin typeface="Aptos"/>
              </a:rPr>
              <a:t>
</a:t>
            </a:r>
            <a:r>
              <a:rPr sz="1400" b="0" dirty="0">
                <a:solidFill>
                  <a:srgbClr val="5C5B6E"/>
                </a:solidFill>
                <a:latin typeface="Aptos"/>
              </a:rPr>
              <a:t>GitHub </a:t>
            </a:r>
            <a:r>
              <a:rPr lang="en-US" sz="1400" dirty="0">
                <a:solidFill>
                  <a:srgbClr val="5C5B6E"/>
                </a:solidFill>
                <a:latin typeface="Aptos"/>
              </a:rPr>
              <a:t>-</a:t>
            </a:r>
            <a:r>
              <a:rPr sz="1400" b="0" dirty="0">
                <a:solidFill>
                  <a:srgbClr val="5C5B6E"/>
                </a:solidFill>
                <a:latin typeface="Aptos"/>
              </a:rPr>
              <a:t> </a:t>
            </a:r>
            <a:r>
              <a:rPr lang="en-US" sz="1400" b="0" dirty="0">
                <a:solidFill>
                  <a:srgbClr val="5C5B6E"/>
                </a:solidFill>
                <a:latin typeface="Aptos"/>
              </a:rPr>
              <a:t> </a:t>
            </a:r>
            <a:r>
              <a:rPr sz="1400" b="0" dirty="0" err="1">
                <a:solidFill>
                  <a:srgbClr val="5C5B6E"/>
                </a:solidFill>
                <a:latin typeface="Aptos"/>
              </a:rPr>
              <a:t>github.com</a:t>
            </a:r>
            <a:r>
              <a:rPr sz="1400" b="0" dirty="0">
                <a:solidFill>
                  <a:srgbClr val="5C5B6E"/>
                </a:solidFill>
                <a:latin typeface="Aptos"/>
              </a:rPr>
              <a:t>/Madhumasa84/</a:t>
            </a:r>
            <a:r>
              <a:rPr sz="1400" b="0" dirty="0" err="1">
                <a:solidFill>
                  <a:srgbClr val="5C5B6E"/>
                </a:solidFill>
                <a:latin typeface="Aptos"/>
              </a:rPr>
              <a:t>Samsung_Prism</a:t>
            </a: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536872" y="1037776"/>
            <a:ext cx="4572000" cy="4572000"/>
          </a:xfrm>
          <a:prstGeom prst="rect">
            <a:avLst/>
          </a:prstGeom>
        </p:spPr>
      </p:pic>
      <p:sp>
        <p:nvSpPr>
          <p:cNvPr id="15" name="TextBox 14"/>
          <p:cNvSpPr txBox="1"/>
          <p:nvPr/>
        </p:nvSpPr>
        <p:spPr>
          <a:xfrm>
            <a:off x="713232" y="5440680"/>
            <a:ext cx="7308550" cy="350865"/>
          </a:xfrm>
          <a:prstGeom prst="rect">
            <a:avLst/>
          </a:prstGeom>
          <a:noFill/>
        </p:spPr>
        <p:txBody>
          <a:bodyPr wrap="square" lIns="36576" tIns="36576" rIns="36576" bIns="36576" anchor="t">
            <a:spAutoFit/>
          </a:bodyPr>
          <a:lstStyle/>
          <a:p>
            <a:pPr algn="l"/>
            <a:r>
              <a:rPr b="1">
                <a:solidFill>
                  <a:srgbClr val="6A41AE"/>
                </a:solidFill>
                <a:latin typeface="Aptos"/>
              </a:rPr>
              <a:t>FlowContext — Real-Time Streaming RAG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Theme &amp; Problem</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Why conventional RAG breaks down in full-duplex conversation</a:t>
            </a:r>
          </a:p>
        </p:txBody>
      </p:sp>
      <p:sp>
        <p:nvSpPr>
          <p:cNvPr id="4" name="Rounded Rectangle 3"/>
          <p:cNvSpPr/>
          <p:nvPr/>
        </p:nvSpPr>
        <p:spPr>
          <a:xfrm>
            <a:off x="685800" y="1417320"/>
            <a:ext cx="3246120" cy="425196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417320"/>
            <a:ext cx="64008" cy="425196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545336"/>
            <a:ext cx="2926079" cy="320040"/>
          </a:xfrm>
          <a:prstGeom prst="rect">
            <a:avLst/>
          </a:prstGeom>
          <a:noFill/>
        </p:spPr>
        <p:txBody>
          <a:bodyPr wrap="square" lIns="36576" tIns="36576" rIns="36576" bIns="36576" anchor="t">
            <a:spAutoFit/>
          </a:bodyPr>
          <a:lstStyle/>
          <a:p>
            <a:pPr algn="l"/>
            <a:r>
              <a:rPr sz="1400" b="1">
                <a:solidFill>
                  <a:srgbClr val="1C1F34"/>
                </a:solidFill>
                <a:latin typeface="Aptos"/>
              </a:rPr>
              <a:t>The interaction is streaming</a:t>
            </a:r>
          </a:p>
        </p:txBody>
      </p:sp>
      <p:sp>
        <p:nvSpPr>
          <p:cNvPr id="7" name="TextBox 6"/>
          <p:cNvSpPr txBox="1"/>
          <p:nvPr/>
        </p:nvSpPr>
        <p:spPr>
          <a:xfrm>
            <a:off x="850392" y="1911095"/>
            <a:ext cx="2926079" cy="3648456"/>
          </a:xfrm>
          <a:prstGeom prst="rect">
            <a:avLst/>
          </a:prstGeom>
          <a:noFill/>
        </p:spPr>
        <p:txBody>
          <a:bodyPr wrap="square" lIns="36576" tIns="36576" rIns="36576" bIns="36576" anchor="t">
            <a:spAutoFit/>
          </a:bodyPr>
          <a:lstStyle/>
          <a:p>
            <a:pPr algn="l"/>
            <a:r>
              <a:rPr sz="1350" b="0">
                <a:solidFill>
                  <a:srgbClr val="5C5B6E"/>
                </a:solidFill>
                <a:latin typeface="Aptos"/>
              </a:rPr>
              <a:t>Users speak in continuous bursts, not clean search queries. A single utterance can contain multiple information needs and constraints.</a:t>
            </a:r>
          </a:p>
        </p:txBody>
      </p:sp>
      <p:sp>
        <p:nvSpPr>
          <p:cNvPr id="8" name="Rounded Rectangle 7"/>
          <p:cNvSpPr/>
          <p:nvPr/>
        </p:nvSpPr>
        <p:spPr>
          <a:xfrm>
            <a:off x="4133087" y="1417320"/>
            <a:ext cx="3246120" cy="425196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133087" y="1417320"/>
            <a:ext cx="64008" cy="425196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297679" y="1545336"/>
            <a:ext cx="2926079" cy="320040"/>
          </a:xfrm>
          <a:prstGeom prst="rect">
            <a:avLst/>
          </a:prstGeom>
          <a:noFill/>
        </p:spPr>
        <p:txBody>
          <a:bodyPr wrap="square" lIns="36576" tIns="36576" rIns="36576" bIns="36576" anchor="t">
            <a:spAutoFit/>
          </a:bodyPr>
          <a:lstStyle/>
          <a:p>
            <a:pPr algn="l"/>
            <a:r>
              <a:rPr sz="1400" b="1">
                <a:solidFill>
                  <a:srgbClr val="1C1F34"/>
                </a:solidFill>
                <a:latin typeface="Aptos"/>
              </a:rPr>
              <a:t>The query keeps changing</a:t>
            </a:r>
          </a:p>
        </p:txBody>
      </p:sp>
      <p:sp>
        <p:nvSpPr>
          <p:cNvPr id="11" name="TextBox 10"/>
          <p:cNvSpPr txBox="1"/>
          <p:nvPr/>
        </p:nvSpPr>
        <p:spPr>
          <a:xfrm>
            <a:off x="4297679" y="1911095"/>
            <a:ext cx="2926079" cy="3648456"/>
          </a:xfrm>
          <a:prstGeom prst="rect">
            <a:avLst/>
          </a:prstGeom>
          <a:noFill/>
        </p:spPr>
        <p:txBody>
          <a:bodyPr wrap="square" lIns="36576" tIns="36576" rIns="36576" bIns="36576" anchor="t">
            <a:spAutoFit/>
          </a:bodyPr>
          <a:lstStyle/>
          <a:p>
            <a:pPr algn="l"/>
            <a:r>
              <a:rPr sz="1350" b="0">
                <a:solidFill>
                  <a:srgbClr val="5C5B6E"/>
                </a:solidFill>
                <a:latin typeface="Aptos"/>
              </a:rPr>
              <a:t>Users add constraints, correct entities, or request a new presentation while the previous answer is already being formed.</a:t>
            </a:r>
          </a:p>
        </p:txBody>
      </p:sp>
      <p:sp>
        <p:nvSpPr>
          <p:cNvPr id="12" name="Rounded Rectangle 11"/>
          <p:cNvSpPr/>
          <p:nvPr/>
        </p:nvSpPr>
        <p:spPr>
          <a:xfrm>
            <a:off x="7580375" y="1417320"/>
            <a:ext cx="3246120" cy="425196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580375" y="1417320"/>
            <a:ext cx="64008" cy="425196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44967" y="1545336"/>
            <a:ext cx="2926079" cy="320040"/>
          </a:xfrm>
          <a:prstGeom prst="rect">
            <a:avLst/>
          </a:prstGeom>
          <a:noFill/>
        </p:spPr>
        <p:txBody>
          <a:bodyPr wrap="square" lIns="36576" tIns="36576" rIns="36576" bIns="36576" anchor="t">
            <a:spAutoFit/>
          </a:bodyPr>
          <a:lstStyle/>
          <a:p>
            <a:pPr algn="l"/>
            <a:r>
              <a:rPr sz="1400" b="1">
                <a:solidFill>
                  <a:srgbClr val="1C1F34"/>
                </a:solidFill>
                <a:latin typeface="Aptos"/>
              </a:rPr>
              <a:t>The pipeline must stay grounded</a:t>
            </a:r>
          </a:p>
        </p:txBody>
      </p:sp>
      <p:sp>
        <p:nvSpPr>
          <p:cNvPr id="15" name="TextBox 14"/>
          <p:cNvSpPr txBox="1"/>
          <p:nvPr/>
        </p:nvSpPr>
        <p:spPr>
          <a:xfrm>
            <a:off x="7744967" y="1911095"/>
            <a:ext cx="2926079" cy="3648456"/>
          </a:xfrm>
          <a:prstGeom prst="rect">
            <a:avLst/>
          </a:prstGeom>
          <a:noFill/>
        </p:spPr>
        <p:txBody>
          <a:bodyPr wrap="square" lIns="36576" tIns="36576" rIns="36576" bIns="36576" anchor="t">
            <a:spAutoFit/>
          </a:bodyPr>
          <a:lstStyle/>
          <a:p>
            <a:pPr algn="l"/>
            <a:r>
              <a:rPr sz="1350" b="0">
                <a:solidFill>
                  <a:srgbClr val="5C5B6E"/>
                </a:solidFill>
                <a:latin typeface="Aptos"/>
              </a:rPr>
              <a:t>The system must hide retrieval latency, isolate sub-intents, preserve valid claims, and cite the exact evidence behind each answer.</a:t>
            </a:r>
          </a:p>
        </p:txBody>
      </p:sp>
      <p:sp>
        <p:nvSpPr>
          <p:cNvPr id="16" name="TextBox 15"/>
          <p:cNvSpPr txBox="1"/>
          <p:nvPr/>
        </p:nvSpPr>
        <p:spPr>
          <a:xfrm>
            <a:off x="713232" y="5806440"/>
            <a:ext cx="9966960" cy="384048"/>
          </a:xfrm>
          <a:prstGeom prst="rect">
            <a:avLst/>
          </a:prstGeom>
          <a:noFill/>
        </p:spPr>
        <p:txBody>
          <a:bodyPr wrap="square" lIns="36576" tIns="36576" rIns="36576" bIns="36576" anchor="t">
            <a:spAutoFit/>
          </a:bodyPr>
          <a:lstStyle/>
          <a:p>
            <a:pPr algn="l"/>
            <a:r>
              <a:rPr sz="1400" b="1">
                <a:solidFill>
                  <a:srgbClr val="1C1F34"/>
                </a:solidFill>
                <a:latin typeface="Aptos"/>
              </a:rPr>
              <a:t>Core objective: retrieve early, update surgically, and never fabricate missing evidence.</a:t>
            </a:r>
          </a:p>
        </p:txBody>
      </p:sp>
      <p:sp>
        <p:nvSpPr>
          <p:cNvPr id="17" name="TextBox 16"/>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02</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Existing Solutions &amp; Gaps</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The engineering problem is not just retrieval quality — it is retrieval timing and state management</a:t>
            </a:r>
          </a:p>
        </p:txBody>
      </p:sp>
      <p:sp>
        <p:nvSpPr>
          <p:cNvPr id="4" name="Rounded Rectangle 3"/>
          <p:cNvSpPr/>
          <p:nvPr/>
        </p:nvSpPr>
        <p:spPr>
          <a:xfrm>
            <a:off x="685800" y="1325880"/>
            <a:ext cx="4983480" cy="132588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325880"/>
            <a:ext cx="64008" cy="132588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453895"/>
            <a:ext cx="4663440" cy="320040"/>
          </a:xfrm>
          <a:prstGeom prst="rect">
            <a:avLst/>
          </a:prstGeom>
          <a:noFill/>
        </p:spPr>
        <p:txBody>
          <a:bodyPr wrap="square" lIns="36576" tIns="36576" rIns="36576" bIns="36576" anchor="t">
            <a:spAutoFit/>
          </a:bodyPr>
          <a:lstStyle/>
          <a:p>
            <a:pPr algn="l"/>
            <a:r>
              <a:rPr sz="1400" b="1">
                <a:solidFill>
                  <a:srgbClr val="1C1F34"/>
                </a:solidFill>
                <a:latin typeface="Aptos"/>
              </a:rPr>
              <a:t>1  Sequential latency</a:t>
            </a:r>
          </a:p>
        </p:txBody>
      </p:sp>
      <p:sp>
        <p:nvSpPr>
          <p:cNvPr id="7" name="TextBox 6"/>
          <p:cNvSpPr txBox="1"/>
          <p:nvPr/>
        </p:nvSpPr>
        <p:spPr>
          <a:xfrm>
            <a:off x="850392" y="1819656"/>
            <a:ext cx="4663440" cy="722375"/>
          </a:xfrm>
          <a:prstGeom prst="rect">
            <a:avLst/>
          </a:prstGeom>
          <a:noFill/>
        </p:spPr>
        <p:txBody>
          <a:bodyPr wrap="square" lIns="36576" tIns="36576" rIns="36576" bIns="36576" anchor="t">
            <a:spAutoFit/>
          </a:bodyPr>
          <a:lstStyle/>
          <a:p>
            <a:pPr algn="l"/>
            <a:r>
              <a:rPr sz="1280" b="0">
                <a:solidFill>
                  <a:srgbClr val="5C5B6E"/>
                </a:solidFill>
                <a:latin typeface="Aptos"/>
              </a:rPr>
              <a:t>Wait for silence → extract query → retrieve → synthesize. This leaves retrieval latency exposed to the user.</a:t>
            </a:r>
          </a:p>
        </p:txBody>
      </p:sp>
      <p:sp>
        <p:nvSpPr>
          <p:cNvPr id="8" name="Rounded Rectangle 7"/>
          <p:cNvSpPr/>
          <p:nvPr/>
        </p:nvSpPr>
        <p:spPr>
          <a:xfrm>
            <a:off x="685800" y="2788920"/>
            <a:ext cx="4983480" cy="132588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85800" y="2788920"/>
            <a:ext cx="64008" cy="132588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0392" y="2916936"/>
            <a:ext cx="4663440" cy="320040"/>
          </a:xfrm>
          <a:prstGeom prst="rect">
            <a:avLst/>
          </a:prstGeom>
          <a:noFill/>
        </p:spPr>
        <p:txBody>
          <a:bodyPr wrap="square" lIns="36576" tIns="36576" rIns="36576" bIns="36576" anchor="t">
            <a:spAutoFit/>
          </a:bodyPr>
          <a:lstStyle/>
          <a:p>
            <a:pPr algn="l"/>
            <a:r>
              <a:rPr sz="1400" b="1">
                <a:solidFill>
                  <a:srgbClr val="1C1F34"/>
                </a:solidFill>
                <a:latin typeface="Aptos"/>
              </a:rPr>
              <a:t>2  Redundant multi-turn compute</a:t>
            </a:r>
          </a:p>
        </p:txBody>
      </p:sp>
      <p:sp>
        <p:nvSpPr>
          <p:cNvPr id="11" name="TextBox 10"/>
          <p:cNvSpPr txBox="1"/>
          <p:nvPr/>
        </p:nvSpPr>
        <p:spPr>
          <a:xfrm>
            <a:off x="850392" y="3282696"/>
            <a:ext cx="4663440" cy="722375"/>
          </a:xfrm>
          <a:prstGeom prst="rect">
            <a:avLst/>
          </a:prstGeom>
          <a:noFill/>
        </p:spPr>
        <p:txBody>
          <a:bodyPr wrap="square" lIns="36576" tIns="36576" rIns="36576" bIns="36576" anchor="t">
            <a:spAutoFit/>
          </a:bodyPr>
          <a:lstStyle/>
          <a:p>
            <a:pPr algn="l"/>
            <a:r>
              <a:rPr sz="1280" b="0">
                <a:solidFill>
                  <a:srgbClr val="5C5B6E"/>
                </a:solidFill>
                <a:latin typeface="Aptos"/>
              </a:rPr>
              <a:t>Minor follow-ups and formatting requests can trigger unnecessary corpus retrieval and full regeneration.</a:t>
            </a:r>
          </a:p>
        </p:txBody>
      </p:sp>
      <p:sp>
        <p:nvSpPr>
          <p:cNvPr id="12" name="Rounded Rectangle 11"/>
          <p:cNvSpPr/>
          <p:nvPr/>
        </p:nvSpPr>
        <p:spPr>
          <a:xfrm>
            <a:off x="685800" y="4251960"/>
            <a:ext cx="4983480" cy="132588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4251960"/>
            <a:ext cx="64008" cy="132588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4379976"/>
            <a:ext cx="4663440" cy="320040"/>
          </a:xfrm>
          <a:prstGeom prst="rect">
            <a:avLst/>
          </a:prstGeom>
          <a:noFill/>
        </p:spPr>
        <p:txBody>
          <a:bodyPr wrap="square" lIns="36576" tIns="36576" rIns="36576" bIns="36576" anchor="t">
            <a:spAutoFit/>
          </a:bodyPr>
          <a:lstStyle/>
          <a:p>
            <a:pPr algn="l"/>
            <a:r>
              <a:rPr sz="1400" b="1">
                <a:solidFill>
                  <a:srgbClr val="1C1F34"/>
                </a:solidFill>
                <a:latin typeface="Aptos"/>
              </a:rPr>
              <a:t>3  Compound-query fragility</a:t>
            </a:r>
          </a:p>
        </p:txBody>
      </p:sp>
      <p:sp>
        <p:nvSpPr>
          <p:cNvPr id="15" name="TextBox 14"/>
          <p:cNvSpPr txBox="1"/>
          <p:nvPr/>
        </p:nvSpPr>
        <p:spPr>
          <a:xfrm>
            <a:off x="850392" y="4745736"/>
            <a:ext cx="4663440" cy="722375"/>
          </a:xfrm>
          <a:prstGeom prst="rect">
            <a:avLst/>
          </a:prstGeom>
          <a:noFill/>
        </p:spPr>
        <p:txBody>
          <a:bodyPr wrap="square" lIns="36576" tIns="36576" rIns="36576" bIns="36576" anchor="t">
            <a:spAutoFit/>
          </a:bodyPr>
          <a:lstStyle/>
          <a:p>
            <a:pPr algn="l"/>
            <a:r>
              <a:rPr sz="1280" b="0">
                <a:solidFill>
                  <a:srgbClr val="5C5B6E"/>
                </a:solidFill>
                <a:latin typeface="Aptos"/>
              </a:rPr>
              <a:t>A monolithic query can mix independent needs such as capacity, catering, AV, price, or policy.</a:t>
            </a:r>
          </a:p>
        </p:txBody>
      </p:sp>
      <p:sp>
        <p:nvSpPr>
          <p:cNvPr id="16" name="Rounded Rectangle 15"/>
          <p:cNvSpPr/>
          <p:nvPr/>
        </p:nvSpPr>
        <p:spPr>
          <a:xfrm>
            <a:off x="5989320" y="1325880"/>
            <a:ext cx="4983480" cy="132588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989320" y="1325880"/>
            <a:ext cx="64008" cy="132588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53912" y="1453895"/>
            <a:ext cx="4663440" cy="320040"/>
          </a:xfrm>
          <a:prstGeom prst="rect">
            <a:avLst/>
          </a:prstGeom>
          <a:noFill/>
        </p:spPr>
        <p:txBody>
          <a:bodyPr wrap="square" lIns="36576" tIns="36576" rIns="36576" bIns="36576" anchor="t">
            <a:spAutoFit/>
          </a:bodyPr>
          <a:lstStyle/>
          <a:p>
            <a:pPr algn="l"/>
            <a:r>
              <a:rPr sz="1400" b="1">
                <a:solidFill>
                  <a:srgbClr val="1C1F34"/>
                </a:solidFill>
                <a:latin typeface="Aptos"/>
              </a:rPr>
              <a:t>4  Heavy orchestration</a:t>
            </a:r>
          </a:p>
        </p:txBody>
      </p:sp>
      <p:sp>
        <p:nvSpPr>
          <p:cNvPr id="19" name="TextBox 18"/>
          <p:cNvSpPr txBox="1"/>
          <p:nvPr/>
        </p:nvSpPr>
        <p:spPr>
          <a:xfrm>
            <a:off x="6153912" y="1819656"/>
            <a:ext cx="4663440" cy="722375"/>
          </a:xfrm>
          <a:prstGeom prst="rect">
            <a:avLst/>
          </a:prstGeom>
          <a:noFill/>
        </p:spPr>
        <p:txBody>
          <a:bodyPr wrap="square" lIns="36576" tIns="36576" rIns="36576" bIns="36576" anchor="t">
            <a:spAutoFit/>
          </a:bodyPr>
          <a:lstStyle/>
          <a:p>
            <a:pPr algn="l"/>
            <a:r>
              <a:rPr sz="1280" b="0">
                <a:solidFill>
                  <a:srgbClr val="5C5B6E"/>
                </a:solidFill>
                <a:latin typeface="Aptos"/>
              </a:rPr>
              <a:t>Large agent stacks can add non-determinism, recursive loops, and avoidable token/cost overhead.</a:t>
            </a:r>
          </a:p>
        </p:txBody>
      </p:sp>
      <p:sp>
        <p:nvSpPr>
          <p:cNvPr id="20" name="Rounded Rectangle 19"/>
          <p:cNvSpPr/>
          <p:nvPr/>
        </p:nvSpPr>
        <p:spPr>
          <a:xfrm>
            <a:off x="5989320" y="2788920"/>
            <a:ext cx="4983480" cy="132588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989320" y="2788920"/>
            <a:ext cx="64008" cy="132588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53912" y="2916936"/>
            <a:ext cx="4663440" cy="320040"/>
          </a:xfrm>
          <a:prstGeom prst="rect">
            <a:avLst/>
          </a:prstGeom>
          <a:noFill/>
        </p:spPr>
        <p:txBody>
          <a:bodyPr wrap="square" lIns="36576" tIns="36576" rIns="36576" bIns="36576" anchor="t">
            <a:spAutoFit/>
          </a:bodyPr>
          <a:lstStyle/>
          <a:p>
            <a:pPr algn="l"/>
            <a:r>
              <a:rPr sz="1400" b="1">
                <a:solidFill>
                  <a:srgbClr val="1C1F34"/>
                </a:solidFill>
                <a:latin typeface="Aptos"/>
              </a:rPr>
              <a:t>5  Citation drift</a:t>
            </a:r>
          </a:p>
        </p:txBody>
      </p:sp>
      <p:sp>
        <p:nvSpPr>
          <p:cNvPr id="23" name="TextBox 22"/>
          <p:cNvSpPr txBox="1"/>
          <p:nvPr/>
        </p:nvSpPr>
        <p:spPr>
          <a:xfrm>
            <a:off x="6153912" y="3282696"/>
            <a:ext cx="4663440" cy="722375"/>
          </a:xfrm>
          <a:prstGeom prst="rect">
            <a:avLst/>
          </a:prstGeom>
          <a:noFill/>
        </p:spPr>
        <p:txBody>
          <a:bodyPr wrap="square" lIns="36576" tIns="36576" rIns="36576" bIns="36576" anchor="t">
            <a:spAutoFit/>
          </a:bodyPr>
          <a:lstStyle/>
          <a:p>
            <a:pPr algn="l"/>
            <a:r>
              <a:rPr sz="1280" b="0">
                <a:solidFill>
                  <a:srgbClr val="5C5B6E"/>
                </a:solidFill>
                <a:latin typeface="Aptos"/>
              </a:rPr>
              <a:t>Answers may not preserve a claim → source chunk relationship, especially after corrections.</a:t>
            </a:r>
          </a:p>
        </p:txBody>
      </p:sp>
      <p:sp>
        <p:nvSpPr>
          <p:cNvPr id="24" name="Rounded Rectangle 23"/>
          <p:cNvSpPr/>
          <p:nvPr/>
        </p:nvSpPr>
        <p:spPr>
          <a:xfrm>
            <a:off x="5989320" y="4251960"/>
            <a:ext cx="4983480" cy="132588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989320" y="4251960"/>
            <a:ext cx="64008" cy="132588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53912" y="4379976"/>
            <a:ext cx="4663440" cy="320040"/>
          </a:xfrm>
          <a:prstGeom prst="rect">
            <a:avLst/>
          </a:prstGeom>
          <a:noFill/>
        </p:spPr>
        <p:txBody>
          <a:bodyPr wrap="square" lIns="36576" tIns="36576" rIns="36576" bIns="36576" anchor="t">
            <a:spAutoFit/>
          </a:bodyPr>
          <a:lstStyle/>
          <a:p>
            <a:pPr algn="l"/>
            <a:r>
              <a:rPr sz="1400" b="1">
                <a:solidFill>
                  <a:srgbClr val="1C1F34"/>
                </a:solidFill>
                <a:latin typeface="Aptos"/>
              </a:rPr>
              <a:t>Design response</a:t>
            </a:r>
          </a:p>
        </p:txBody>
      </p:sp>
      <p:sp>
        <p:nvSpPr>
          <p:cNvPr id="27" name="TextBox 26"/>
          <p:cNvSpPr txBox="1"/>
          <p:nvPr/>
        </p:nvSpPr>
        <p:spPr>
          <a:xfrm>
            <a:off x="6153912" y="4745736"/>
            <a:ext cx="4663440" cy="722375"/>
          </a:xfrm>
          <a:prstGeom prst="rect">
            <a:avLst/>
          </a:prstGeom>
          <a:noFill/>
        </p:spPr>
        <p:txBody>
          <a:bodyPr wrap="square" lIns="36576" tIns="36576" rIns="36576" bIns="36576" anchor="t">
            <a:spAutoFit/>
          </a:bodyPr>
          <a:lstStyle/>
          <a:p>
            <a:pPr algn="l"/>
            <a:r>
              <a:rPr sz="1280" b="0">
                <a:solidFill>
                  <a:srgbClr val="5C5B6E"/>
                </a:solidFill>
                <a:latin typeface="Aptos"/>
              </a:rPr>
              <a:t>FlowContext treats streaming, intent decomposition, session dependencies, retrieval, and verification as explicit deterministic stages.</a:t>
            </a:r>
          </a:p>
        </p:txBody>
      </p:sp>
      <p:sp>
        <p:nvSpPr>
          <p:cNvPr id="28" name="TextBox 27"/>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03</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FlowContext Architecture</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A lightweight event-driven pipeline designed for streaming updates</a:t>
            </a:r>
          </a:p>
        </p:txBody>
      </p:sp>
      <p:sp>
        <p:nvSpPr>
          <p:cNvPr id="4" name="Rounded Rectangle 3"/>
          <p:cNvSpPr/>
          <p:nvPr/>
        </p:nvSpPr>
        <p:spPr>
          <a:xfrm>
            <a:off x="566928" y="1417320"/>
            <a:ext cx="1627632" cy="1325880"/>
          </a:xfrm>
          <a:prstGeom prst="roundRect">
            <a:avLst/>
          </a:prstGeom>
          <a:solidFill>
            <a:srgbClr val="F7F5FC"/>
          </a:solidFill>
          <a:ln w="1778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76656" y="1527048"/>
            <a:ext cx="320040" cy="274320"/>
          </a:xfrm>
          <a:prstGeom prst="rect">
            <a:avLst/>
          </a:prstGeom>
          <a:noFill/>
        </p:spPr>
        <p:txBody>
          <a:bodyPr wrap="square" lIns="36576" tIns="36576" rIns="36576" bIns="36576" anchor="t">
            <a:spAutoFit/>
          </a:bodyPr>
          <a:lstStyle/>
          <a:p>
            <a:pPr algn="l"/>
            <a:r>
              <a:rPr sz="1100" b="1">
                <a:solidFill>
                  <a:srgbClr val="6A41AE"/>
                </a:solidFill>
                <a:latin typeface="Aptos"/>
              </a:rPr>
              <a:t>1</a:t>
            </a:r>
          </a:p>
        </p:txBody>
      </p:sp>
      <p:sp>
        <p:nvSpPr>
          <p:cNvPr id="6" name="TextBox 5"/>
          <p:cNvSpPr txBox="1"/>
          <p:nvPr/>
        </p:nvSpPr>
        <p:spPr>
          <a:xfrm>
            <a:off x="676656" y="1856232"/>
            <a:ext cx="1408176" cy="384048"/>
          </a:xfrm>
          <a:prstGeom prst="rect">
            <a:avLst/>
          </a:prstGeom>
          <a:noFill/>
        </p:spPr>
        <p:txBody>
          <a:bodyPr wrap="square" lIns="36576" tIns="36576" rIns="36576" bIns="36576" anchor="t">
            <a:spAutoFit/>
          </a:bodyPr>
          <a:lstStyle/>
          <a:p>
            <a:pPr algn="l"/>
            <a:r>
              <a:rPr sz="1250" b="1">
                <a:solidFill>
                  <a:srgbClr val="1C1F34"/>
                </a:solidFill>
                <a:latin typeface="Aptos"/>
              </a:rPr>
              <a:t>Transcript events</a:t>
            </a:r>
          </a:p>
        </p:txBody>
      </p:sp>
      <p:sp>
        <p:nvSpPr>
          <p:cNvPr id="7" name="TextBox 6"/>
          <p:cNvSpPr txBox="1"/>
          <p:nvPr/>
        </p:nvSpPr>
        <p:spPr>
          <a:xfrm>
            <a:off x="676656" y="2267712"/>
            <a:ext cx="1408176" cy="310896"/>
          </a:xfrm>
          <a:prstGeom prst="rect">
            <a:avLst/>
          </a:prstGeom>
          <a:noFill/>
        </p:spPr>
        <p:txBody>
          <a:bodyPr wrap="square" lIns="36576" tIns="36576" rIns="36576" bIns="36576" anchor="t">
            <a:spAutoFit/>
          </a:bodyPr>
          <a:lstStyle/>
          <a:p>
            <a:pPr algn="l"/>
            <a:r>
              <a:rPr sz="1050" b="0">
                <a:solidFill>
                  <a:srgbClr val="5C5B6E"/>
                </a:solidFill>
                <a:latin typeface="Aptos"/>
              </a:rPr>
              <a:t>partial transcripts</a:t>
            </a:r>
          </a:p>
        </p:txBody>
      </p:sp>
      <p:sp>
        <p:nvSpPr>
          <p:cNvPr id="8" name="TextBox 7"/>
          <p:cNvSpPr txBox="1"/>
          <p:nvPr/>
        </p:nvSpPr>
        <p:spPr>
          <a:xfrm>
            <a:off x="2203703" y="1892808"/>
            <a:ext cx="137160" cy="320040"/>
          </a:xfrm>
          <a:prstGeom prst="rect">
            <a:avLst/>
          </a:prstGeom>
          <a:noFill/>
        </p:spPr>
        <p:txBody>
          <a:bodyPr wrap="square" lIns="36576" tIns="36576" rIns="36576" bIns="36576" anchor="t">
            <a:spAutoFit/>
          </a:bodyPr>
          <a:lstStyle/>
          <a:p>
            <a:pPr algn="ctr"/>
            <a:r>
              <a:rPr sz="1600" b="1">
                <a:solidFill>
                  <a:srgbClr val="6A41AE"/>
                </a:solidFill>
                <a:latin typeface="Aptos"/>
              </a:rPr>
              <a:t>→</a:t>
            </a:r>
          </a:p>
        </p:txBody>
      </p:sp>
      <p:sp>
        <p:nvSpPr>
          <p:cNvPr id="9" name="Rounded Rectangle 8"/>
          <p:cNvSpPr/>
          <p:nvPr/>
        </p:nvSpPr>
        <p:spPr>
          <a:xfrm>
            <a:off x="2359152" y="1417320"/>
            <a:ext cx="1627632" cy="1325880"/>
          </a:xfrm>
          <a:prstGeom prst="roundRect">
            <a:avLst/>
          </a:prstGeom>
          <a:solidFill>
            <a:srgbClr val="F7F5FC"/>
          </a:solidFill>
          <a:ln w="1778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68880" y="1527048"/>
            <a:ext cx="320040" cy="274320"/>
          </a:xfrm>
          <a:prstGeom prst="rect">
            <a:avLst/>
          </a:prstGeom>
          <a:noFill/>
        </p:spPr>
        <p:txBody>
          <a:bodyPr wrap="square" lIns="36576" tIns="36576" rIns="36576" bIns="36576" anchor="t">
            <a:spAutoFit/>
          </a:bodyPr>
          <a:lstStyle/>
          <a:p>
            <a:pPr algn="l"/>
            <a:r>
              <a:rPr sz="1100" b="1">
                <a:solidFill>
                  <a:srgbClr val="6A41AE"/>
                </a:solidFill>
                <a:latin typeface="Aptos"/>
              </a:rPr>
              <a:t>2</a:t>
            </a:r>
          </a:p>
        </p:txBody>
      </p:sp>
      <p:sp>
        <p:nvSpPr>
          <p:cNvPr id="11" name="TextBox 10"/>
          <p:cNvSpPr txBox="1"/>
          <p:nvPr/>
        </p:nvSpPr>
        <p:spPr>
          <a:xfrm>
            <a:off x="2468880" y="1856232"/>
            <a:ext cx="1408176" cy="384048"/>
          </a:xfrm>
          <a:prstGeom prst="rect">
            <a:avLst/>
          </a:prstGeom>
          <a:noFill/>
        </p:spPr>
        <p:txBody>
          <a:bodyPr wrap="square" lIns="36576" tIns="36576" rIns="36576" bIns="36576" anchor="t">
            <a:spAutoFit/>
          </a:bodyPr>
          <a:lstStyle/>
          <a:p>
            <a:pPr algn="l"/>
            <a:r>
              <a:rPr sz="1250" b="1">
                <a:solidFill>
                  <a:srgbClr val="1C1F34"/>
                </a:solidFill>
                <a:latin typeface="Aptos"/>
              </a:rPr>
              <a:t>Stability Gate</a:t>
            </a:r>
          </a:p>
        </p:txBody>
      </p:sp>
      <p:sp>
        <p:nvSpPr>
          <p:cNvPr id="12" name="TextBox 11"/>
          <p:cNvSpPr txBox="1"/>
          <p:nvPr/>
        </p:nvSpPr>
        <p:spPr>
          <a:xfrm>
            <a:off x="2468880" y="2267712"/>
            <a:ext cx="1408176" cy="310896"/>
          </a:xfrm>
          <a:prstGeom prst="rect">
            <a:avLst/>
          </a:prstGeom>
          <a:noFill/>
        </p:spPr>
        <p:txBody>
          <a:bodyPr wrap="square" lIns="36576" tIns="36576" rIns="36576" bIns="36576" anchor="t">
            <a:spAutoFit/>
          </a:bodyPr>
          <a:lstStyle/>
          <a:p>
            <a:pPr algn="l"/>
            <a:r>
              <a:rPr sz="1050" b="0">
                <a:solidFill>
                  <a:srgbClr val="5C5B6E"/>
                </a:solidFill>
                <a:latin typeface="Aptos"/>
              </a:rPr>
              <a:t>safe early trigger</a:t>
            </a:r>
          </a:p>
        </p:txBody>
      </p:sp>
      <p:sp>
        <p:nvSpPr>
          <p:cNvPr id="13" name="TextBox 12"/>
          <p:cNvSpPr txBox="1"/>
          <p:nvPr/>
        </p:nvSpPr>
        <p:spPr>
          <a:xfrm>
            <a:off x="3995928" y="1892808"/>
            <a:ext cx="137160" cy="320040"/>
          </a:xfrm>
          <a:prstGeom prst="rect">
            <a:avLst/>
          </a:prstGeom>
          <a:noFill/>
        </p:spPr>
        <p:txBody>
          <a:bodyPr wrap="square" lIns="36576" tIns="36576" rIns="36576" bIns="36576" anchor="t">
            <a:spAutoFit/>
          </a:bodyPr>
          <a:lstStyle/>
          <a:p>
            <a:pPr algn="ctr"/>
            <a:r>
              <a:rPr sz="1600" b="1">
                <a:solidFill>
                  <a:srgbClr val="6A41AE"/>
                </a:solidFill>
                <a:latin typeface="Aptos"/>
              </a:rPr>
              <a:t>→</a:t>
            </a:r>
          </a:p>
        </p:txBody>
      </p:sp>
      <p:sp>
        <p:nvSpPr>
          <p:cNvPr id="14" name="Rounded Rectangle 13"/>
          <p:cNvSpPr/>
          <p:nvPr/>
        </p:nvSpPr>
        <p:spPr>
          <a:xfrm>
            <a:off x="4151376" y="1417320"/>
            <a:ext cx="1627632" cy="1325880"/>
          </a:xfrm>
          <a:prstGeom prst="roundRect">
            <a:avLst/>
          </a:prstGeom>
          <a:solidFill>
            <a:srgbClr val="F7F5FC"/>
          </a:solidFill>
          <a:ln w="17780">
            <a:solidFill>
              <a:srgbClr val="6A41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261104" y="1527048"/>
            <a:ext cx="320040" cy="274320"/>
          </a:xfrm>
          <a:prstGeom prst="rect">
            <a:avLst/>
          </a:prstGeom>
          <a:noFill/>
        </p:spPr>
        <p:txBody>
          <a:bodyPr wrap="square" lIns="36576" tIns="36576" rIns="36576" bIns="36576" anchor="t">
            <a:spAutoFit/>
          </a:bodyPr>
          <a:lstStyle/>
          <a:p>
            <a:pPr algn="l"/>
            <a:r>
              <a:rPr sz="1100" b="1">
                <a:solidFill>
                  <a:srgbClr val="6A41AE"/>
                </a:solidFill>
                <a:latin typeface="Aptos"/>
              </a:rPr>
              <a:t>3</a:t>
            </a:r>
          </a:p>
        </p:txBody>
      </p:sp>
      <p:sp>
        <p:nvSpPr>
          <p:cNvPr id="16" name="TextBox 15"/>
          <p:cNvSpPr txBox="1"/>
          <p:nvPr/>
        </p:nvSpPr>
        <p:spPr>
          <a:xfrm>
            <a:off x="4261104" y="1856232"/>
            <a:ext cx="1408176" cy="384048"/>
          </a:xfrm>
          <a:prstGeom prst="rect">
            <a:avLst/>
          </a:prstGeom>
          <a:noFill/>
        </p:spPr>
        <p:txBody>
          <a:bodyPr wrap="square" lIns="36576" tIns="36576" rIns="36576" bIns="36576" anchor="t">
            <a:spAutoFit/>
          </a:bodyPr>
          <a:lstStyle/>
          <a:p>
            <a:pPr algn="l"/>
            <a:r>
              <a:rPr sz="1250" b="1">
                <a:solidFill>
                  <a:srgbClr val="1C1F34"/>
                </a:solidFill>
                <a:latin typeface="Aptos"/>
              </a:rPr>
              <a:t>Speculative Retrieval</a:t>
            </a:r>
          </a:p>
        </p:txBody>
      </p:sp>
      <p:sp>
        <p:nvSpPr>
          <p:cNvPr id="17" name="TextBox 16"/>
          <p:cNvSpPr txBox="1"/>
          <p:nvPr/>
        </p:nvSpPr>
        <p:spPr>
          <a:xfrm>
            <a:off x="4261104" y="2267712"/>
            <a:ext cx="1408176" cy="310896"/>
          </a:xfrm>
          <a:prstGeom prst="rect">
            <a:avLst/>
          </a:prstGeom>
          <a:noFill/>
        </p:spPr>
        <p:txBody>
          <a:bodyPr wrap="square" lIns="36576" tIns="36576" rIns="36576" bIns="36576" anchor="t">
            <a:spAutoFit/>
          </a:bodyPr>
          <a:lstStyle/>
          <a:p>
            <a:pPr algn="l"/>
            <a:r>
              <a:rPr sz="1050" b="0">
                <a:solidFill>
                  <a:srgbClr val="5C5B6E"/>
                </a:solidFill>
                <a:latin typeface="Aptos"/>
              </a:rPr>
              <a:t>dense + lexical</a:t>
            </a:r>
          </a:p>
        </p:txBody>
      </p:sp>
      <p:sp>
        <p:nvSpPr>
          <p:cNvPr id="18" name="TextBox 17"/>
          <p:cNvSpPr txBox="1"/>
          <p:nvPr/>
        </p:nvSpPr>
        <p:spPr>
          <a:xfrm>
            <a:off x="5788152" y="1892808"/>
            <a:ext cx="137160" cy="320040"/>
          </a:xfrm>
          <a:prstGeom prst="rect">
            <a:avLst/>
          </a:prstGeom>
          <a:noFill/>
        </p:spPr>
        <p:txBody>
          <a:bodyPr wrap="square" lIns="36576" tIns="36576" rIns="36576" bIns="36576" anchor="t">
            <a:spAutoFit/>
          </a:bodyPr>
          <a:lstStyle/>
          <a:p>
            <a:pPr algn="ctr"/>
            <a:r>
              <a:rPr sz="1600" b="1">
                <a:solidFill>
                  <a:srgbClr val="6A41AE"/>
                </a:solidFill>
                <a:latin typeface="Aptos"/>
              </a:rPr>
              <a:t>→</a:t>
            </a:r>
          </a:p>
        </p:txBody>
      </p:sp>
      <p:sp>
        <p:nvSpPr>
          <p:cNvPr id="19" name="Rounded Rectangle 18"/>
          <p:cNvSpPr/>
          <p:nvPr/>
        </p:nvSpPr>
        <p:spPr>
          <a:xfrm>
            <a:off x="5943600" y="1417320"/>
            <a:ext cx="1627632" cy="1325880"/>
          </a:xfrm>
          <a:prstGeom prst="roundRect">
            <a:avLst/>
          </a:prstGeom>
          <a:solidFill>
            <a:srgbClr val="F7F5FC"/>
          </a:solidFill>
          <a:ln w="1778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53328" y="1527048"/>
            <a:ext cx="320040" cy="274320"/>
          </a:xfrm>
          <a:prstGeom prst="rect">
            <a:avLst/>
          </a:prstGeom>
          <a:noFill/>
        </p:spPr>
        <p:txBody>
          <a:bodyPr wrap="square" lIns="36576" tIns="36576" rIns="36576" bIns="36576" anchor="t">
            <a:spAutoFit/>
          </a:bodyPr>
          <a:lstStyle/>
          <a:p>
            <a:pPr algn="l"/>
            <a:r>
              <a:rPr sz="1100" b="1">
                <a:solidFill>
                  <a:srgbClr val="6A41AE"/>
                </a:solidFill>
                <a:latin typeface="Aptos"/>
              </a:rPr>
              <a:t>4</a:t>
            </a:r>
          </a:p>
        </p:txBody>
      </p:sp>
      <p:sp>
        <p:nvSpPr>
          <p:cNvPr id="21" name="TextBox 20"/>
          <p:cNvSpPr txBox="1"/>
          <p:nvPr/>
        </p:nvSpPr>
        <p:spPr>
          <a:xfrm>
            <a:off x="6053328" y="1856232"/>
            <a:ext cx="1408176" cy="384048"/>
          </a:xfrm>
          <a:prstGeom prst="rect">
            <a:avLst/>
          </a:prstGeom>
          <a:noFill/>
        </p:spPr>
        <p:txBody>
          <a:bodyPr wrap="square" lIns="36576" tIns="36576" rIns="36576" bIns="36576" anchor="t">
            <a:spAutoFit/>
          </a:bodyPr>
          <a:lstStyle/>
          <a:p>
            <a:pPr algn="l"/>
            <a:r>
              <a:rPr sz="1250" b="1">
                <a:solidFill>
                  <a:srgbClr val="1C1F34"/>
                </a:solidFill>
                <a:latin typeface="Aptos"/>
              </a:rPr>
              <a:t>Intent Decomposer</a:t>
            </a:r>
          </a:p>
        </p:txBody>
      </p:sp>
      <p:sp>
        <p:nvSpPr>
          <p:cNvPr id="22" name="TextBox 21"/>
          <p:cNvSpPr txBox="1"/>
          <p:nvPr/>
        </p:nvSpPr>
        <p:spPr>
          <a:xfrm>
            <a:off x="6053328" y="2267712"/>
            <a:ext cx="1408176" cy="310896"/>
          </a:xfrm>
          <a:prstGeom prst="rect">
            <a:avLst/>
          </a:prstGeom>
          <a:noFill/>
        </p:spPr>
        <p:txBody>
          <a:bodyPr wrap="square" lIns="36576" tIns="36576" rIns="36576" bIns="36576" anchor="t">
            <a:spAutoFit/>
          </a:bodyPr>
          <a:lstStyle/>
          <a:p>
            <a:pPr algn="l"/>
            <a:r>
              <a:rPr sz="1050" b="0">
                <a:solidFill>
                  <a:srgbClr val="5C5B6E"/>
                </a:solidFill>
                <a:latin typeface="Aptos"/>
              </a:rPr>
              <a:t>atomic sub-intents</a:t>
            </a:r>
          </a:p>
        </p:txBody>
      </p:sp>
      <p:sp>
        <p:nvSpPr>
          <p:cNvPr id="23" name="TextBox 22"/>
          <p:cNvSpPr txBox="1"/>
          <p:nvPr/>
        </p:nvSpPr>
        <p:spPr>
          <a:xfrm>
            <a:off x="7580375" y="1892808"/>
            <a:ext cx="137160" cy="320040"/>
          </a:xfrm>
          <a:prstGeom prst="rect">
            <a:avLst/>
          </a:prstGeom>
          <a:noFill/>
        </p:spPr>
        <p:txBody>
          <a:bodyPr wrap="square" lIns="36576" tIns="36576" rIns="36576" bIns="36576" anchor="t">
            <a:spAutoFit/>
          </a:bodyPr>
          <a:lstStyle/>
          <a:p>
            <a:pPr algn="ctr"/>
            <a:r>
              <a:rPr sz="1600" b="1">
                <a:solidFill>
                  <a:srgbClr val="6A41AE"/>
                </a:solidFill>
                <a:latin typeface="Aptos"/>
              </a:rPr>
              <a:t>→</a:t>
            </a:r>
          </a:p>
        </p:txBody>
      </p:sp>
      <p:sp>
        <p:nvSpPr>
          <p:cNvPr id="24" name="Rounded Rectangle 23"/>
          <p:cNvSpPr/>
          <p:nvPr/>
        </p:nvSpPr>
        <p:spPr>
          <a:xfrm>
            <a:off x="7735823" y="1417320"/>
            <a:ext cx="1627632" cy="1325880"/>
          </a:xfrm>
          <a:prstGeom prst="roundRect">
            <a:avLst/>
          </a:prstGeom>
          <a:solidFill>
            <a:srgbClr val="F7F5FC"/>
          </a:solidFill>
          <a:ln w="1778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45551" y="1527048"/>
            <a:ext cx="320040" cy="274320"/>
          </a:xfrm>
          <a:prstGeom prst="rect">
            <a:avLst/>
          </a:prstGeom>
          <a:noFill/>
        </p:spPr>
        <p:txBody>
          <a:bodyPr wrap="square" lIns="36576" tIns="36576" rIns="36576" bIns="36576" anchor="t">
            <a:spAutoFit/>
          </a:bodyPr>
          <a:lstStyle/>
          <a:p>
            <a:pPr algn="l"/>
            <a:r>
              <a:rPr sz="1100" b="1">
                <a:solidFill>
                  <a:srgbClr val="6A41AE"/>
                </a:solidFill>
                <a:latin typeface="Aptos"/>
              </a:rPr>
              <a:t>5</a:t>
            </a:r>
          </a:p>
        </p:txBody>
      </p:sp>
      <p:sp>
        <p:nvSpPr>
          <p:cNvPr id="26" name="TextBox 25"/>
          <p:cNvSpPr txBox="1"/>
          <p:nvPr/>
        </p:nvSpPr>
        <p:spPr>
          <a:xfrm>
            <a:off x="7845551" y="1856232"/>
            <a:ext cx="1408176" cy="384048"/>
          </a:xfrm>
          <a:prstGeom prst="rect">
            <a:avLst/>
          </a:prstGeom>
          <a:noFill/>
        </p:spPr>
        <p:txBody>
          <a:bodyPr wrap="square" lIns="36576" tIns="36576" rIns="36576" bIns="36576" anchor="t">
            <a:spAutoFit/>
          </a:bodyPr>
          <a:lstStyle/>
          <a:p>
            <a:pPr algn="l"/>
            <a:r>
              <a:rPr sz="1250" b="1">
                <a:solidFill>
                  <a:srgbClr val="1C1F34"/>
                </a:solidFill>
                <a:latin typeface="Aptos"/>
              </a:rPr>
              <a:t>Session DAG</a:t>
            </a:r>
          </a:p>
        </p:txBody>
      </p:sp>
      <p:sp>
        <p:nvSpPr>
          <p:cNvPr id="27" name="TextBox 26"/>
          <p:cNvSpPr txBox="1"/>
          <p:nvPr/>
        </p:nvSpPr>
        <p:spPr>
          <a:xfrm>
            <a:off x="7845551" y="2267712"/>
            <a:ext cx="1408176" cy="310896"/>
          </a:xfrm>
          <a:prstGeom prst="rect">
            <a:avLst/>
          </a:prstGeom>
          <a:noFill/>
        </p:spPr>
        <p:txBody>
          <a:bodyPr wrap="square" lIns="36576" tIns="36576" rIns="36576" bIns="36576" anchor="t">
            <a:spAutoFit/>
          </a:bodyPr>
          <a:lstStyle/>
          <a:p>
            <a:pPr algn="l"/>
            <a:r>
              <a:rPr sz="1050" b="0">
                <a:solidFill>
                  <a:srgbClr val="5C5B6E"/>
                </a:solidFill>
                <a:latin typeface="Aptos"/>
              </a:rPr>
              <a:t>invalidate only affected claims</a:t>
            </a:r>
          </a:p>
        </p:txBody>
      </p:sp>
      <p:sp>
        <p:nvSpPr>
          <p:cNvPr id="28" name="TextBox 27"/>
          <p:cNvSpPr txBox="1"/>
          <p:nvPr/>
        </p:nvSpPr>
        <p:spPr>
          <a:xfrm>
            <a:off x="9372599" y="1892808"/>
            <a:ext cx="137160" cy="320040"/>
          </a:xfrm>
          <a:prstGeom prst="rect">
            <a:avLst/>
          </a:prstGeom>
          <a:noFill/>
        </p:spPr>
        <p:txBody>
          <a:bodyPr wrap="square" lIns="36576" tIns="36576" rIns="36576" bIns="36576" anchor="t">
            <a:spAutoFit/>
          </a:bodyPr>
          <a:lstStyle/>
          <a:p>
            <a:pPr algn="ctr"/>
            <a:r>
              <a:rPr sz="1600" b="1">
                <a:solidFill>
                  <a:srgbClr val="6A41AE"/>
                </a:solidFill>
                <a:latin typeface="Aptos"/>
              </a:rPr>
              <a:t>→</a:t>
            </a:r>
          </a:p>
        </p:txBody>
      </p:sp>
      <p:sp>
        <p:nvSpPr>
          <p:cNvPr id="29" name="Rounded Rectangle 28"/>
          <p:cNvSpPr/>
          <p:nvPr/>
        </p:nvSpPr>
        <p:spPr>
          <a:xfrm>
            <a:off x="9528048" y="1417320"/>
            <a:ext cx="1627632" cy="1325880"/>
          </a:xfrm>
          <a:prstGeom prst="roundRect">
            <a:avLst/>
          </a:prstGeom>
          <a:solidFill>
            <a:srgbClr val="F7F5FC"/>
          </a:solidFill>
          <a:ln w="17780">
            <a:solidFill>
              <a:srgbClr val="6A41A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37776" y="1527048"/>
            <a:ext cx="320040" cy="274320"/>
          </a:xfrm>
          <a:prstGeom prst="rect">
            <a:avLst/>
          </a:prstGeom>
          <a:noFill/>
        </p:spPr>
        <p:txBody>
          <a:bodyPr wrap="square" lIns="36576" tIns="36576" rIns="36576" bIns="36576" anchor="t">
            <a:spAutoFit/>
          </a:bodyPr>
          <a:lstStyle/>
          <a:p>
            <a:pPr algn="l"/>
            <a:r>
              <a:rPr sz="1100" b="1">
                <a:solidFill>
                  <a:srgbClr val="6A41AE"/>
                </a:solidFill>
                <a:latin typeface="Aptos"/>
              </a:rPr>
              <a:t>6</a:t>
            </a:r>
          </a:p>
        </p:txBody>
      </p:sp>
      <p:sp>
        <p:nvSpPr>
          <p:cNvPr id="31" name="TextBox 30"/>
          <p:cNvSpPr txBox="1"/>
          <p:nvPr/>
        </p:nvSpPr>
        <p:spPr>
          <a:xfrm>
            <a:off x="9637776" y="1856232"/>
            <a:ext cx="1408176" cy="384048"/>
          </a:xfrm>
          <a:prstGeom prst="rect">
            <a:avLst/>
          </a:prstGeom>
          <a:noFill/>
        </p:spPr>
        <p:txBody>
          <a:bodyPr wrap="square" lIns="36576" tIns="36576" rIns="36576" bIns="36576" anchor="t">
            <a:spAutoFit/>
          </a:bodyPr>
          <a:lstStyle/>
          <a:p>
            <a:pPr algn="l"/>
            <a:r>
              <a:rPr sz="1250" b="1">
                <a:solidFill>
                  <a:srgbClr val="1C1F34"/>
                </a:solidFill>
                <a:latin typeface="Aptos"/>
              </a:rPr>
              <a:t>Grounded Publisher</a:t>
            </a:r>
          </a:p>
        </p:txBody>
      </p:sp>
      <p:sp>
        <p:nvSpPr>
          <p:cNvPr id="32" name="TextBox 31"/>
          <p:cNvSpPr txBox="1"/>
          <p:nvPr/>
        </p:nvSpPr>
        <p:spPr>
          <a:xfrm>
            <a:off x="9637776" y="2267712"/>
            <a:ext cx="1408176" cy="310896"/>
          </a:xfrm>
          <a:prstGeom prst="rect">
            <a:avLst/>
          </a:prstGeom>
          <a:noFill/>
        </p:spPr>
        <p:txBody>
          <a:bodyPr wrap="square" lIns="36576" tIns="36576" rIns="36576" bIns="36576" anchor="t">
            <a:spAutoFit/>
          </a:bodyPr>
          <a:lstStyle/>
          <a:p>
            <a:pPr algn="l"/>
            <a:r>
              <a:rPr sz="1050" b="0">
                <a:solidFill>
                  <a:srgbClr val="5C5B6E"/>
                </a:solidFill>
                <a:latin typeface="Aptos"/>
              </a:rPr>
              <a:t>claims + citations</a:t>
            </a:r>
          </a:p>
        </p:txBody>
      </p:sp>
      <p:sp>
        <p:nvSpPr>
          <p:cNvPr id="33" name="Rounded Rectangle 32"/>
          <p:cNvSpPr/>
          <p:nvPr/>
        </p:nvSpPr>
        <p:spPr>
          <a:xfrm>
            <a:off x="685800" y="3063240"/>
            <a:ext cx="3154680" cy="224028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85800" y="3063240"/>
            <a:ext cx="64008" cy="224028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50392" y="3191256"/>
            <a:ext cx="2834640" cy="320040"/>
          </a:xfrm>
          <a:prstGeom prst="rect">
            <a:avLst/>
          </a:prstGeom>
          <a:noFill/>
        </p:spPr>
        <p:txBody>
          <a:bodyPr wrap="square" lIns="36576" tIns="36576" rIns="36576" bIns="36576" anchor="t">
            <a:spAutoFit/>
          </a:bodyPr>
          <a:lstStyle/>
          <a:p>
            <a:pPr algn="l"/>
            <a:r>
              <a:rPr sz="1400" b="1">
                <a:solidFill>
                  <a:srgbClr val="1C1F34"/>
                </a:solidFill>
                <a:latin typeface="Aptos"/>
              </a:rPr>
              <a:t>Speculative early search</a:t>
            </a:r>
          </a:p>
        </p:txBody>
      </p:sp>
      <p:sp>
        <p:nvSpPr>
          <p:cNvPr id="36" name="TextBox 35"/>
          <p:cNvSpPr txBox="1"/>
          <p:nvPr/>
        </p:nvSpPr>
        <p:spPr>
          <a:xfrm>
            <a:off x="850392" y="3557016"/>
            <a:ext cx="2834640" cy="1636776"/>
          </a:xfrm>
          <a:prstGeom prst="rect">
            <a:avLst/>
          </a:prstGeom>
          <a:noFill/>
        </p:spPr>
        <p:txBody>
          <a:bodyPr wrap="square" lIns="36576" tIns="36576" rIns="36576" bIns="36576" anchor="t">
            <a:spAutoFit/>
          </a:bodyPr>
          <a:lstStyle/>
          <a:p>
            <a:pPr algn="l"/>
            <a:r>
              <a:rPr sz="1230" b="0">
                <a:solidFill>
                  <a:srgbClr val="5C5B6E"/>
                </a:solidFill>
                <a:latin typeface="Aptos"/>
              </a:rPr>
              <a:t>Stable partial transcripts can trigger retrieval before the final event.</a:t>
            </a:r>
          </a:p>
        </p:txBody>
      </p:sp>
      <p:sp>
        <p:nvSpPr>
          <p:cNvPr id="37" name="Rounded Rectangle 36"/>
          <p:cNvSpPr/>
          <p:nvPr/>
        </p:nvSpPr>
        <p:spPr>
          <a:xfrm>
            <a:off x="4050791" y="3063240"/>
            <a:ext cx="3154680" cy="224028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4050791" y="3063240"/>
            <a:ext cx="64008" cy="224028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15383" y="3191256"/>
            <a:ext cx="2834640" cy="320040"/>
          </a:xfrm>
          <a:prstGeom prst="rect">
            <a:avLst/>
          </a:prstGeom>
          <a:noFill/>
        </p:spPr>
        <p:txBody>
          <a:bodyPr wrap="square" lIns="36576" tIns="36576" rIns="36576" bIns="36576" anchor="t">
            <a:spAutoFit/>
          </a:bodyPr>
          <a:lstStyle/>
          <a:p>
            <a:pPr algn="l"/>
            <a:r>
              <a:rPr sz="1400" b="1">
                <a:solidFill>
                  <a:srgbClr val="1C1F34"/>
                </a:solidFill>
                <a:latin typeface="Aptos"/>
              </a:rPr>
              <a:t>Hybrid RRF retrieval</a:t>
            </a:r>
          </a:p>
        </p:txBody>
      </p:sp>
      <p:sp>
        <p:nvSpPr>
          <p:cNvPr id="40" name="TextBox 39"/>
          <p:cNvSpPr txBox="1"/>
          <p:nvPr/>
        </p:nvSpPr>
        <p:spPr>
          <a:xfrm>
            <a:off x="4215383" y="3557016"/>
            <a:ext cx="2834640" cy="1636776"/>
          </a:xfrm>
          <a:prstGeom prst="rect">
            <a:avLst/>
          </a:prstGeom>
          <a:noFill/>
        </p:spPr>
        <p:txBody>
          <a:bodyPr wrap="square" lIns="36576" tIns="36576" rIns="36576" bIns="36576" anchor="t">
            <a:spAutoFit/>
          </a:bodyPr>
          <a:lstStyle/>
          <a:p>
            <a:pPr algn="l"/>
            <a:r>
              <a:rPr sz="1230" b="0">
                <a:solidFill>
                  <a:srgbClr val="5C5B6E"/>
                </a:solidFill>
                <a:latin typeface="Aptos"/>
              </a:rPr>
              <a:t>Dense embeddings + lexical overlap use Reciprocal Rank Fusion (k = 60).</a:t>
            </a:r>
          </a:p>
        </p:txBody>
      </p:sp>
      <p:sp>
        <p:nvSpPr>
          <p:cNvPr id="41" name="Rounded Rectangle 40"/>
          <p:cNvSpPr/>
          <p:nvPr/>
        </p:nvSpPr>
        <p:spPr>
          <a:xfrm>
            <a:off x="7415783" y="3063240"/>
            <a:ext cx="3154680" cy="224028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415783" y="3063240"/>
            <a:ext cx="64008" cy="224028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80375" y="3191256"/>
            <a:ext cx="2834640" cy="320040"/>
          </a:xfrm>
          <a:prstGeom prst="rect">
            <a:avLst/>
          </a:prstGeom>
          <a:noFill/>
        </p:spPr>
        <p:txBody>
          <a:bodyPr wrap="square" lIns="36576" tIns="36576" rIns="36576" bIns="36576" anchor="t">
            <a:spAutoFit/>
          </a:bodyPr>
          <a:lstStyle/>
          <a:p>
            <a:pPr algn="l"/>
            <a:r>
              <a:rPr sz="1400" b="1">
                <a:solidFill>
                  <a:srgbClr val="1C1F34"/>
                </a:solidFill>
                <a:latin typeface="Aptos"/>
              </a:rPr>
              <a:t>Selective session updates</a:t>
            </a:r>
          </a:p>
        </p:txBody>
      </p:sp>
      <p:sp>
        <p:nvSpPr>
          <p:cNvPr id="44" name="TextBox 43"/>
          <p:cNvSpPr txBox="1"/>
          <p:nvPr/>
        </p:nvSpPr>
        <p:spPr>
          <a:xfrm>
            <a:off x="7580375" y="3557016"/>
            <a:ext cx="2834640" cy="1636776"/>
          </a:xfrm>
          <a:prstGeom prst="rect">
            <a:avLst/>
          </a:prstGeom>
          <a:noFill/>
        </p:spPr>
        <p:txBody>
          <a:bodyPr wrap="square" lIns="36576" tIns="36576" rIns="36576" bIns="36576" anchor="t">
            <a:spAutoFit/>
          </a:bodyPr>
          <a:lstStyle/>
          <a:p>
            <a:pPr algn="l"/>
            <a:r>
              <a:rPr sz="1230" b="0">
                <a:solidFill>
                  <a:srgbClr val="5C5B6E"/>
                </a:solidFill>
                <a:latin typeface="Aptos"/>
              </a:rPr>
              <a:t>Late constraints invalidate dependent claims only; formatting-only changes use 0 retrieval calls.</a:t>
            </a:r>
          </a:p>
        </p:txBody>
      </p:sp>
      <p:sp>
        <p:nvSpPr>
          <p:cNvPr id="45" name="TextBox 44"/>
          <p:cNvSpPr txBox="1"/>
          <p:nvPr/>
        </p:nvSpPr>
        <p:spPr>
          <a:xfrm>
            <a:off x="713232" y="5596128"/>
            <a:ext cx="9875520" cy="411480"/>
          </a:xfrm>
          <a:prstGeom prst="rect">
            <a:avLst/>
          </a:prstGeom>
          <a:noFill/>
        </p:spPr>
        <p:txBody>
          <a:bodyPr wrap="square" lIns="36576" tIns="36576" rIns="36576" bIns="36576" anchor="t">
            <a:spAutoFit/>
          </a:bodyPr>
          <a:lstStyle/>
          <a:p>
            <a:pPr algn="l"/>
            <a:r>
              <a:rPr sz="1350" b="1">
                <a:solidFill>
                  <a:srgbClr val="1C1F34"/>
                </a:solidFill>
                <a:latin typeface="Aptos"/>
              </a:rPr>
              <a:t>Output contract: immutable answer versions with atomic claims, source IDs, and exact evidence spans.</a:t>
            </a:r>
          </a:p>
        </p:txBody>
      </p:sp>
      <p:sp>
        <p:nvSpPr>
          <p:cNvPr id="46" name="TextBox 45"/>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04</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Demo &amp; Product Walkthrough</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Six replay scenarios exercise the architecture end-to-end</a:t>
            </a:r>
          </a:p>
        </p:txBody>
      </p:sp>
      <p:sp>
        <p:nvSpPr>
          <p:cNvPr id="4" name="Rounded Rectangle 3"/>
          <p:cNvSpPr/>
          <p:nvPr/>
        </p:nvSpPr>
        <p:spPr>
          <a:xfrm>
            <a:off x="685800" y="1298448"/>
            <a:ext cx="4800600" cy="1243584"/>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98448"/>
            <a:ext cx="64008" cy="1243584"/>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426464"/>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A  Streaming + early retrieval</a:t>
            </a:r>
          </a:p>
        </p:txBody>
      </p:sp>
      <p:sp>
        <p:nvSpPr>
          <p:cNvPr id="7" name="TextBox 6"/>
          <p:cNvSpPr txBox="1"/>
          <p:nvPr/>
        </p:nvSpPr>
        <p:spPr>
          <a:xfrm>
            <a:off x="850392" y="1792224"/>
            <a:ext cx="4480560" cy="640080"/>
          </a:xfrm>
          <a:prstGeom prst="rect">
            <a:avLst/>
          </a:prstGeom>
          <a:noFill/>
        </p:spPr>
        <p:txBody>
          <a:bodyPr wrap="square" lIns="36576" tIns="36576" rIns="36576" bIns="36576" anchor="t">
            <a:spAutoFit/>
          </a:bodyPr>
          <a:lstStyle/>
          <a:p>
            <a:pPr algn="l"/>
            <a:r>
              <a:rPr sz="1170" b="0">
                <a:solidFill>
                  <a:srgbClr val="5C5B6E"/>
                </a:solidFill>
                <a:latin typeface="Aptos"/>
              </a:rPr>
              <a:t>Stable transcript prefixes trigger retrieval before finalization.</a:t>
            </a:r>
          </a:p>
        </p:txBody>
      </p:sp>
      <p:sp>
        <p:nvSpPr>
          <p:cNvPr id="8" name="Rounded Rectangle 7"/>
          <p:cNvSpPr/>
          <p:nvPr/>
        </p:nvSpPr>
        <p:spPr>
          <a:xfrm>
            <a:off x="5760720" y="1298448"/>
            <a:ext cx="4800600" cy="1243584"/>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298448"/>
            <a:ext cx="64008" cy="1243584"/>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25312" y="1426464"/>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B  Constraint update</a:t>
            </a:r>
          </a:p>
        </p:txBody>
      </p:sp>
      <p:sp>
        <p:nvSpPr>
          <p:cNvPr id="11" name="TextBox 10"/>
          <p:cNvSpPr txBox="1"/>
          <p:nvPr/>
        </p:nvSpPr>
        <p:spPr>
          <a:xfrm>
            <a:off x="5925312" y="1792224"/>
            <a:ext cx="4480560" cy="640080"/>
          </a:xfrm>
          <a:prstGeom prst="rect">
            <a:avLst/>
          </a:prstGeom>
          <a:noFill/>
        </p:spPr>
        <p:txBody>
          <a:bodyPr wrap="square" lIns="36576" tIns="36576" rIns="36576" bIns="36576" anchor="t">
            <a:spAutoFit/>
          </a:bodyPr>
          <a:lstStyle/>
          <a:p>
            <a:pPr algn="l"/>
            <a:r>
              <a:rPr sz="1170" b="0">
                <a:solidFill>
                  <a:srgbClr val="5C5B6E"/>
                </a:solidFill>
                <a:latin typeface="Aptos"/>
              </a:rPr>
              <a:t>The attendee constraint changes; missing evidence produces a partial answer.</a:t>
            </a:r>
          </a:p>
        </p:txBody>
      </p:sp>
      <p:sp>
        <p:nvSpPr>
          <p:cNvPr id="12" name="Rounded Rectangle 11"/>
          <p:cNvSpPr/>
          <p:nvPr/>
        </p:nvSpPr>
        <p:spPr>
          <a:xfrm>
            <a:off x="685800" y="2743200"/>
            <a:ext cx="4800600" cy="1243584"/>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2743200"/>
            <a:ext cx="64008" cy="1243584"/>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2871216"/>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C  Entity correction</a:t>
            </a:r>
          </a:p>
        </p:txBody>
      </p:sp>
      <p:sp>
        <p:nvSpPr>
          <p:cNvPr id="15" name="TextBox 14"/>
          <p:cNvSpPr txBox="1"/>
          <p:nvPr/>
        </p:nvSpPr>
        <p:spPr>
          <a:xfrm>
            <a:off x="850392" y="3236976"/>
            <a:ext cx="4480560" cy="640080"/>
          </a:xfrm>
          <a:prstGeom prst="rect">
            <a:avLst/>
          </a:prstGeom>
          <a:noFill/>
        </p:spPr>
        <p:txBody>
          <a:bodyPr wrap="square" lIns="36576" tIns="36576" rIns="36576" bIns="36576" anchor="t">
            <a:spAutoFit/>
          </a:bodyPr>
          <a:lstStyle/>
          <a:p>
            <a:pPr algn="l"/>
            <a:r>
              <a:rPr sz="1170" b="0">
                <a:solidFill>
                  <a:srgbClr val="5C5B6E"/>
                </a:solidFill>
                <a:latin typeface="Aptos"/>
              </a:rPr>
              <a:t>Changing the venue invalidates dependent claims and evidence.</a:t>
            </a:r>
          </a:p>
        </p:txBody>
      </p:sp>
      <p:sp>
        <p:nvSpPr>
          <p:cNvPr id="16" name="Rounded Rectangle 15"/>
          <p:cNvSpPr/>
          <p:nvPr/>
        </p:nvSpPr>
        <p:spPr>
          <a:xfrm>
            <a:off x="5760720" y="2743200"/>
            <a:ext cx="4800600" cy="1243584"/>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60720" y="2743200"/>
            <a:ext cx="64008" cy="1243584"/>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25312" y="2871216"/>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D  Answer formatting</a:t>
            </a:r>
          </a:p>
        </p:txBody>
      </p:sp>
      <p:sp>
        <p:nvSpPr>
          <p:cNvPr id="19" name="TextBox 18"/>
          <p:cNvSpPr txBox="1"/>
          <p:nvPr/>
        </p:nvSpPr>
        <p:spPr>
          <a:xfrm>
            <a:off x="5925312" y="3236976"/>
            <a:ext cx="4480560" cy="640080"/>
          </a:xfrm>
          <a:prstGeom prst="rect">
            <a:avLst/>
          </a:prstGeom>
          <a:noFill/>
        </p:spPr>
        <p:txBody>
          <a:bodyPr wrap="square" lIns="36576" tIns="36576" rIns="36576" bIns="36576" anchor="t">
            <a:spAutoFit/>
          </a:bodyPr>
          <a:lstStyle/>
          <a:p>
            <a:pPr algn="l"/>
            <a:r>
              <a:rPr sz="1170" b="0">
                <a:solidFill>
                  <a:srgbClr val="5C5B6E"/>
                </a:solidFill>
                <a:latin typeface="Aptos"/>
              </a:rPr>
              <a:t>Formatting publishes a new version with no retrieval or generation.</a:t>
            </a:r>
          </a:p>
        </p:txBody>
      </p:sp>
      <p:sp>
        <p:nvSpPr>
          <p:cNvPr id="20" name="Rounded Rectangle 19"/>
          <p:cNvSpPr/>
          <p:nvPr/>
        </p:nvSpPr>
        <p:spPr>
          <a:xfrm>
            <a:off x="685800" y="4187952"/>
            <a:ext cx="4800600" cy="1243584"/>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85800" y="4187952"/>
            <a:ext cx="64008" cy="1243584"/>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 y="4315968"/>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E  Unsupported constraint</a:t>
            </a:r>
          </a:p>
        </p:txBody>
      </p:sp>
      <p:sp>
        <p:nvSpPr>
          <p:cNvPr id="23" name="TextBox 22"/>
          <p:cNvSpPr txBox="1"/>
          <p:nvPr/>
        </p:nvSpPr>
        <p:spPr>
          <a:xfrm>
            <a:off x="850392" y="4681728"/>
            <a:ext cx="4480560" cy="640080"/>
          </a:xfrm>
          <a:prstGeom prst="rect">
            <a:avLst/>
          </a:prstGeom>
          <a:noFill/>
        </p:spPr>
        <p:txBody>
          <a:bodyPr wrap="square" lIns="36576" tIns="36576" rIns="36576" bIns="36576" anchor="t">
            <a:spAutoFit/>
          </a:bodyPr>
          <a:lstStyle/>
          <a:p>
            <a:pPr algn="l"/>
            <a:r>
              <a:rPr sz="1170" b="0">
                <a:solidFill>
                  <a:srgbClr val="5C5B6E"/>
                </a:solidFill>
                <a:latin typeface="Aptos"/>
              </a:rPr>
              <a:t>A request for 50 attendees lacks matching evidence; catering is preserved.</a:t>
            </a:r>
          </a:p>
        </p:txBody>
      </p:sp>
      <p:sp>
        <p:nvSpPr>
          <p:cNvPr id="24" name="Rounded Rectangle 23"/>
          <p:cNvSpPr/>
          <p:nvPr/>
        </p:nvSpPr>
        <p:spPr>
          <a:xfrm>
            <a:off x="5760720" y="4187952"/>
            <a:ext cx="4800600" cy="1243584"/>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760720" y="4187952"/>
            <a:ext cx="64008" cy="1243584"/>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25312" y="4315968"/>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F  Race / stale result</a:t>
            </a:r>
          </a:p>
        </p:txBody>
      </p:sp>
      <p:sp>
        <p:nvSpPr>
          <p:cNvPr id="27" name="TextBox 26"/>
          <p:cNvSpPr txBox="1"/>
          <p:nvPr/>
        </p:nvSpPr>
        <p:spPr>
          <a:xfrm>
            <a:off x="5925312" y="4681728"/>
            <a:ext cx="4480560" cy="640080"/>
          </a:xfrm>
          <a:prstGeom prst="rect">
            <a:avLst/>
          </a:prstGeom>
          <a:noFill/>
        </p:spPr>
        <p:txBody>
          <a:bodyPr wrap="square" lIns="36576" tIns="36576" rIns="36576" bIns="36576" anchor="t">
            <a:spAutoFit/>
          </a:bodyPr>
          <a:lstStyle/>
          <a:p>
            <a:pPr algn="l"/>
            <a:r>
              <a:rPr sz="1170" b="0">
                <a:solidFill>
                  <a:srgbClr val="5C5B6E"/>
                </a:solidFill>
                <a:latin typeface="Aptos"/>
              </a:rPr>
              <a:t>Superseded in-flight work is prevented from publishing stale state.</a:t>
            </a:r>
          </a:p>
        </p:txBody>
      </p:sp>
      <p:sp>
        <p:nvSpPr>
          <p:cNvPr id="28" name="TextBox 27"/>
          <p:cNvSpPr txBox="1"/>
          <p:nvPr/>
        </p:nvSpPr>
        <p:spPr>
          <a:xfrm>
            <a:off x="713232" y="5715000"/>
            <a:ext cx="9784080" cy="365760"/>
          </a:xfrm>
          <a:prstGeom prst="rect">
            <a:avLst/>
          </a:prstGeom>
          <a:noFill/>
        </p:spPr>
        <p:txBody>
          <a:bodyPr wrap="square" lIns="36576" tIns="36576" rIns="36576" bIns="36576" anchor="t">
            <a:spAutoFit/>
          </a:bodyPr>
          <a:lstStyle/>
          <a:p>
            <a:pPr algn="l"/>
            <a:r>
              <a:rPr sz="1400" b="1">
                <a:solidFill>
                  <a:srgbClr val="1C1F34"/>
                </a:solidFill>
                <a:latin typeface="Aptos"/>
              </a:rPr>
              <a:t>Demo message: the system does not restart the world when one detail changes.</a:t>
            </a:r>
          </a:p>
        </p:txBody>
      </p:sp>
      <p:sp>
        <p:nvSpPr>
          <p:cNvPr id="29" name="TextBox 28"/>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05</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Tools &amp; Technology Stack</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Built as a reproducible Python system with explicit contracts and testable stages</a:t>
            </a:r>
          </a:p>
        </p:txBody>
      </p:sp>
      <p:sp>
        <p:nvSpPr>
          <p:cNvPr id="4" name="Rounded Rectangle 3"/>
          <p:cNvSpPr/>
          <p:nvPr/>
        </p:nvSpPr>
        <p:spPr>
          <a:xfrm>
            <a:off x="685800" y="1261872"/>
            <a:ext cx="4800600" cy="96012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261872"/>
            <a:ext cx="64008" cy="96012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389888"/>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Runtime</a:t>
            </a:r>
          </a:p>
        </p:txBody>
      </p:sp>
      <p:sp>
        <p:nvSpPr>
          <p:cNvPr id="7" name="TextBox 6"/>
          <p:cNvSpPr txBox="1"/>
          <p:nvPr/>
        </p:nvSpPr>
        <p:spPr>
          <a:xfrm>
            <a:off x="850392" y="1755648"/>
            <a:ext cx="4480560" cy="356616"/>
          </a:xfrm>
          <a:prstGeom prst="rect">
            <a:avLst/>
          </a:prstGeom>
          <a:noFill/>
        </p:spPr>
        <p:txBody>
          <a:bodyPr wrap="square" lIns="36576" tIns="36576" rIns="36576" bIns="36576" anchor="t">
            <a:spAutoFit/>
          </a:bodyPr>
          <a:lstStyle/>
          <a:p>
            <a:pPr algn="l"/>
            <a:r>
              <a:rPr sz="1120" b="0">
                <a:solidFill>
                  <a:srgbClr val="5C5B6E"/>
                </a:solidFill>
                <a:latin typeface="Aptos"/>
              </a:rPr>
              <a:t>Python 3.11 • asyncio • uv</a:t>
            </a:r>
          </a:p>
        </p:txBody>
      </p:sp>
      <p:sp>
        <p:nvSpPr>
          <p:cNvPr id="8" name="Rounded Rectangle 7"/>
          <p:cNvSpPr/>
          <p:nvPr/>
        </p:nvSpPr>
        <p:spPr>
          <a:xfrm>
            <a:off x="5760720" y="1261872"/>
            <a:ext cx="4800600" cy="96012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261872"/>
            <a:ext cx="64008" cy="96012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25312" y="1389888"/>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Contracts</a:t>
            </a:r>
          </a:p>
        </p:txBody>
      </p:sp>
      <p:sp>
        <p:nvSpPr>
          <p:cNvPr id="11" name="TextBox 10"/>
          <p:cNvSpPr txBox="1"/>
          <p:nvPr/>
        </p:nvSpPr>
        <p:spPr>
          <a:xfrm>
            <a:off x="5925312" y="1755648"/>
            <a:ext cx="4480560" cy="356616"/>
          </a:xfrm>
          <a:prstGeom prst="rect">
            <a:avLst/>
          </a:prstGeom>
          <a:noFill/>
        </p:spPr>
        <p:txBody>
          <a:bodyPr wrap="square" lIns="36576" tIns="36576" rIns="36576" bIns="36576" anchor="t">
            <a:spAutoFit/>
          </a:bodyPr>
          <a:lstStyle/>
          <a:p>
            <a:pPr algn="l"/>
            <a:r>
              <a:rPr sz="1120" b="0">
                <a:solidFill>
                  <a:srgbClr val="5C5B6E"/>
                </a:solidFill>
                <a:latin typeface="Aptos"/>
              </a:rPr>
              <a:t>Pydantic v2 • typed event envelopes • immutable answer contracts</a:t>
            </a:r>
          </a:p>
        </p:txBody>
      </p:sp>
      <p:sp>
        <p:nvSpPr>
          <p:cNvPr id="12" name="Rounded Rectangle 11"/>
          <p:cNvSpPr/>
          <p:nvPr/>
        </p:nvSpPr>
        <p:spPr>
          <a:xfrm>
            <a:off x="685800" y="2386584"/>
            <a:ext cx="4800600" cy="96012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2386584"/>
            <a:ext cx="64008" cy="96012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2514600"/>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Retrieval</a:t>
            </a:r>
          </a:p>
        </p:txBody>
      </p:sp>
      <p:sp>
        <p:nvSpPr>
          <p:cNvPr id="15" name="TextBox 14"/>
          <p:cNvSpPr txBox="1"/>
          <p:nvPr/>
        </p:nvSpPr>
        <p:spPr>
          <a:xfrm>
            <a:off x="850392" y="2880360"/>
            <a:ext cx="4480560" cy="356616"/>
          </a:xfrm>
          <a:prstGeom prst="rect">
            <a:avLst/>
          </a:prstGeom>
          <a:noFill/>
        </p:spPr>
        <p:txBody>
          <a:bodyPr wrap="square" lIns="36576" tIns="36576" rIns="36576" bIns="36576" anchor="t">
            <a:spAutoFit/>
          </a:bodyPr>
          <a:lstStyle/>
          <a:p>
            <a:pPr algn="l"/>
            <a:r>
              <a:rPr sz="1120" b="0">
                <a:solidFill>
                  <a:srgbClr val="5C5B6E"/>
                </a:solidFill>
                <a:latin typeface="Aptos"/>
              </a:rPr>
              <a:t>Dense MiniLM embeddings + lexical term overlap</a:t>
            </a:r>
          </a:p>
        </p:txBody>
      </p:sp>
      <p:sp>
        <p:nvSpPr>
          <p:cNvPr id="16" name="Rounded Rectangle 15"/>
          <p:cNvSpPr/>
          <p:nvPr/>
        </p:nvSpPr>
        <p:spPr>
          <a:xfrm>
            <a:off x="5760720" y="2386584"/>
            <a:ext cx="4800600" cy="96012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60720" y="2386584"/>
            <a:ext cx="64008" cy="96012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25312" y="2514600"/>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Fusion</a:t>
            </a:r>
          </a:p>
        </p:txBody>
      </p:sp>
      <p:sp>
        <p:nvSpPr>
          <p:cNvPr id="19" name="TextBox 18"/>
          <p:cNvSpPr txBox="1"/>
          <p:nvPr/>
        </p:nvSpPr>
        <p:spPr>
          <a:xfrm>
            <a:off x="5925312" y="2880360"/>
            <a:ext cx="4480560" cy="356616"/>
          </a:xfrm>
          <a:prstGeom prst="rect">
            <a:avLst/>
          </a:prstGeom>
          <a:noFill/>
        </p:spPr>
        <p:txBody>
          <a:bodyPr wrap="square" lIns="36576" tIns="36576" rIns="36576" bIns="36576" anchor="t">
            <a:spAutoFit/>
          </a:bodyPr>
          <a:lstStyle/>
          <a:p>
            <a:pPr algn="l"/>
            <a:r>
              <a:rPr sz="1120" b="0">
                <a:solidFill>
                  <a:srgbClr val="5C5B6E"/>
                </a:solidFill>
                <a:latin typeface="Aptos"/>
              </a:rPr>
              <a:t>Reciprocal Rank Fusion (RRF, k = 60)</a:t>
            </a:r>
          </a:p>
        </p:txBody>
      </p:sp>
      <p:sp>
        <p:nvSpPr>
          <p:cNvPr id="20" name="Rounded Rectangle 19"/>
          <p:cNvSpPr/>
          <p:nvPr/>
        </p:nvSpPr>
        <p:spPr>
          <a:xfrm>
            <a:off x="685800" y="3511296"/>
            <a:ext cx="4800600" cy="96012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85800" y="3511296"/>
            <a:ext cx="64008" cy="96012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 y="3639312"/>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Session</a:t>
            </a:r>
          </a:p>
        </p:txBody>
      </p:sp>
      <p:sp>
        <p:nvSpPr>
          <p:cNvPr id="23" name="TextBox 22"/>
          <p:cNvSpPr txBox="1"/>
          <p:nvPr/>
        </p:nvSpPr>
        <p:spPr>
          <a:xfrm>
            <a:off x="850392" y="4005072"/>
            <a:ext cx="4480560" cy="356616"/>
          </a:xfrm>
          <a:prstGeom prst="rect">
            <a:avLst/>
          </a:prstGeom>
          <a:noFill/>
        </p:spPr>
        <p:txBody>
          <a:bodyPr wrap="square" lIns="36576" tIns="36576" rIns="36576" bIns="36576" anchor="t">
            <a:spAutoFit/>
          </a:bodyPr>
          <a:lstStyle/>
          <a:p>
            <a:pPr algn="l"/>
            <a:r>
              <a:rPr sz="1120" b="0">
                <a:solidFill>
                  <a:srgbClr val="5C5B6E"/>
                </a:solidFill>
                <a:latin typeface="Aptos"/>
              </a:rPr>
              <a:t>Process-local dependency DAG • selective invalidation</a:t>
            </a:r>
          </a:p>
        </p:txBody>
      </p:sp>
      <p:sp>
        <p:nvSpPr>
          <p:cNvPr id="24" name="Rounded Rectangle 23"/>
          <p:cNvSpPr/>
          <p:nvPr/>
        </p:nvSpPr>
        <p:spPr>
          <a:xfrm>
            <a:off x="5760720" y="3511296"/>
            <a:ext cx="4800600" cy="96012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5760720" y="3511296"/>
            <a:ext cx="64008" cy="96012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25312" y="3639312"/>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Generation</a:t>
            </a:r>
          </a:p>
        </p:txBody>
      </p:sp>
      <p:sp>
        <p:nvSpPr>
          <p:cNvPr id="27" name="TextBox 26"/>
          <p:cNvSpPr txBox="1"/>
          <p:nvPr/>
        </p:nvSpPr>
        <p:spPr>
          <a:xfrm>
            <a:off x="5925312" y="4005072"/>
            <a:ext cx="4480560" cy="356616"/>
          </a:xfrm>
          <a:prstGeom prst="rect">
            <a:avLst/>
          </a:prstGeom>
          <a:noFill/>
        </p:spPr>
        <p:txBody>
          <a:bodyPr wrap="square" lIns="36576" tIns="36576" rIns="36576" bIns="36576" anchor="t">
            <a:spAutoFit/>
          </a:bodyPr>
          <a:lstStyle/>
          <a:p>
            <a:pPr algn="l"/>
            <a:r>
              <a:rPr sz="1120" b="0">
                <a:solidFill>
                  <a:srgbClr val="5C5B6E"/>
                </a:solidFill>
                <a:latin typeface="Aptos"/>
              </a:rPr>
              <a:t>OpenAI-compatible generation with Mock and local Ollama</a:t>
            </a:r>
          </a:p>
        </p:txBody>
      </p:sp>
      <p:sp>
        <p:nvSpPr>
          <p:cNvPr id="28" name="Rounded Rectangle 27"/>
          <p:cNvSpPr/>
          <p:nvPr/>
        </p:nvSpPr>
        <p:spPr>
          <a:xfrm>
            <a:off x="685800" y="4636008"/>
            <a:ext cx="4800600" cy="96012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85800" y="4636008"/>
            <a:ext cx="64008" cy="96012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0392" y="4764024"/>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Quality</a:t>
            </a:r>
          </a:p>
        </p:txBody>
      </p:sp>
      <p:sp>
        <p:nvSpPr>
          <p:cNvPr id="31" name="TextBox 30"/>
          <p:cNvSpPr txBox="1"/>
          <p:nvPr/>
        </p:nvSpPr>
        <p:spPr>
          <a:xfrm>
            <a:off x="850392" y="5129784"/>
            <a:ext cx="4480560" cy="356616"/>
          </a:xfrm>
          <a:prstGeom prst="rect">
            <a:avLst/>
          </a:prstGeom>
          <a:noFill/>
        </p:spPr>
        <p:txBody>
          <a:bodyPr wrap="square" lIns="36576" tIns="36576" rIns="36576" bIns="36576" anchor="t">
            <a:spAutoFit/>
          </a:bodyPr>
          <a:lstStyle/>
          <a:p>
            <a:pPr algn="l"/>
            <a:r>
              <a:rPr sz="1120" b="0">
                <a:solidFill>
                  <a:srgbClr val="5C5B6E"/>
                </a:solidFill>
                <a:latin typeface="Aptos"/>
              </a:rPr>
              <a:t>Pytest • streaming/session/retrieval regression suites</a:t>
            </a:r>
          </a:p>
        </p:txBody>
      </p:sp>
      <p:sp>
        <p:nvSpPr>
          <p:cNvPr id="32" name="Rounded Rectangle 31"/>
          <p:cNvSpPr/>
          <p:nvPr/>
        </p:nvSpPr>
        <p:spPr>
          <a:xfrm>
            <a:off x="5760720" y="4636008"/>
            <a:ext cx="4800600" cy="96012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5760720" y="4636008"/>
            <a:ext cx="64008" cy="96012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25312" y="4764024"/>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Reproducibility</a:t>
            </a:r>
          </a:p>
        </p:txBody>
      </p:sp>
      <p:sp>
        <p:nvSpPr>
          <p:cNvPr id="35" name="TextBox 34"/>
          <p:cNvSpPr txBox="1"/>
          <p:nvPr/>
        </p:nvSpPr>
        <p:spPr>
          <a:xfrm>
            <a:off x="5925312" y="5129784"/>
            <a:ext cx="4480560" cy="356616"/>
          </a:xfrm>
          <a:prstGeom prst="rect">
            <a:avLst/>
          </a:prstGeom>
          <a:noFill/>
        </p:spPr>
        <p:txBody>
          <a:bodyPr wrap="square" lIns="36576" tIns="36576" rIns="36576" bIns="36576" anchor="t">
            <a:spAutoFit/>
          </a:bodyPr>
          <a:lstStyle/>
          <a:p>
            <a:pPr algn="l"/>
            <a:r>
              <a:rPr sz="1120" b="0">
                <a:solidFill>
                  <a:srgbClr val="5C5B6E"/>
                </a:solidFill>
                <a:latin typeface="Aptos"/>
              </a:rPr>
              <a:t>Pinned uv lockfile • deterministic corpus/index fingerprints</a:t>
            </a:r>
          </a:p>
        </p:txBody>
      </p:sp>
      <p:sp>
        <p:nvSpPr>
          <p:cNvPr id="36" name="TextBox 35"/>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06</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Impact &amp; Use Cases</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Where streaming retrieval and surgical updates translate into better conversational systems</a:t>
            </a:r>
          </a:p>
        </p:txBody>
      </p:sp>
      <p:sp>
        <p:nvSpPr>
          <p:cNvPr id="4" name="Rounded Rectangle 3"/>
          <p:cNvSpPr/>
          <p:nvPr/>
        </p:nvSpPr>
        <p:spPr>
          <a:xfrm>
            <a:off x="685800" y="1353312"/>
            <a:ext cx="4800600" cy="137160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353312"/>
            <a:ext cx="64008" cy="137160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481328"/>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Voice assistants</a:t>
            </a:r>
          </a:p>
        </p:txBody>
      </p:sp>
      <p:sp>
        <p:nvSpPr>
          <p:cNvPr id="7" name="TextBox 6"/>
          <p:cNvSpPr txBox="1"/>
          <p:nvPr/>
        </p:nvSpPr>
        <p:spPr>
          <a:xfrm>
            <a:off x="850392" y="1847088"/>
            <a:ext cx="4480560" cy="768096"/>
          </a:xfrm>
          <a:prstGeom prst="rect">
            <a:avLst/>
          </a:prstGeom>
          <a:noFill/>
        </p:spPr>
        <p:txBody>
          <a:bodyPr wrap="square" lIns="36576" tIns="36576" rIns="36576" bIns="36576" anchor="t">
            <a:spAutoFit/>
          </a:bodyPr>
          <a:lstStyle/>
          <a:p>
            <a:pPr algn="l"/>
            <a:r>
              <a:rPr sz="1200" b="0">
                <a:solidFill>
                  <a:srgbClr val="5C5B6E"/>
                </a:solidFill>
                <a:latin typeface="Aptos"/>
              </a:rPr>
              <a:t>Prefetch knowledge while the user is still speaking, reducing perceived response latency.</a:t>
            </a:r>
          </a:p>
        </p:txBody>
      </p:sp>
      <p:sp>
        <p:nvSpPr>
          <p:cNvPr id="8" name="Rounded Rectangle 7"/>
          <p:cNvSpPr/>
          <p:nvPr/>
        </p:nvSpPr>
        <p:spPr>
          <a:xfrm>
            <a:off x="5760720" y="1353312"/>
            <a:ext cx="4800600" cy="137160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353312"/>
            <a:ext cx="64008" cy="137160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25312" y="1481328"/>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Customer support</a:t>
            </a:r>
          </a:p>
        </p:txBody>
      </p:sp>
      <p:sp>
        <p:nvSpPr>
          <p:cNvPr id="11" name="TextBox 10"/>
          <p:cNvSpPr txBox="1"/>
          <p:nvPr/>
        </p:nvSpPr>
        <p:spPr>
          <a:xfrm>
            <a:off x="5925312" y="1847088"/>
            <a:ext cx="4480560" cy="768096"/>
          </a:xfrm>
          <a:prstGeom prst="rect">
            <a:avLst/>
          </a:prstGeom>
          <a:noFill/>
        </p:spPr>
        <p:txBody>
          <a:bodyPr wrap="square" lIns="36576" tIns="36576" rIns="36576" bIns="36576" anchor="t">
            <a:spAutoFit/>
          </a:bodyPr>
          <a:lstStyle/>
          <a:p>
            <a:pPr algn="l"/>
            <a:r>
              <a:rPr sz="1200" b="0">
                <a:solidFill>
                  <a:srgbClr val="5C5B6E"/>
                </a:solidFill>
                <a:latin typeface="Aptos"/>
              </a:rPr>
              <a:t>Retrieve policies and product knowledge before the caller finishes explaining the issue.</a:t>
            </a:r>
          </a:p>
        </p:txBody>
      </p:sp>
      <p:sp>
        <p:nvSpPr>
          <p:cNvPr id="12" name="Rounded Rectangle 11"/>
          <p:cNvSpPr/>
          <p:nvPr/>
        </p:nvSpPr>
        <p:spPr>
          <a:xfrm>
            <a:off x="685800" y="2926080"/>
            <a:ext cx="4800600" cy="137160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2926080"/>
            <a:ext cx="64008" cy="137160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3054096"/>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Meeting / lecture copilots</a:t>
            </a:r>
          </a:p>
        </p:txBody>
      </p:sp>
      <p:sp>
        <p:nvSpPr>
          <p:cNvPr id="15" name="TextBox 14"/>
          <p:cNvSpPr txBox="1"/>
          <p:nvPr/>
        </p:nvSpPr>
        <p:spPr>
          <a:xfrm>
            <a:off x="850392" y="3419856"/>
            <a:ext cx="4480560" cy="768096"/>
          </a:xfrm>
          <a:prstGeom prst="rect">
            <a:avLst/>
          </a:prstGeom>
          <a:noFill/>
        </p:spPr>
        <p:txBody>
          <a:bodyPr wrap="square" lIns="36576" tIns="36576" rIns="36576" bIns="36576" anchor="t">
            <a:spAutoFit/>
          </a:bodyPr>
          <a:lstStyle/>
          <a:p>
            <a:pPr algn="l"/>
            <a:r>
              <a:rPr sz="1200" b="0">
                <a:solidFill>
                  <a:srgbClr val="5C5B6E"/>
                </a:solidFill>
                <a:latin typeface="Aptos"/>
              </a:rPr>
              <a:t>Maintain grounded context during continuous discussion rather than waiting for tidy queries.</a:t>
            </a:r>
          </a:p>
        </p:txBody>
      </p:sp>
      <p:sp>
        <p:nvSpPr>
          <p:cNvPr id="16" name="Rounded Rectangle 15"/>
          <p:cNvSpPr/>
          <p:nvPr/>
        </p:nvSpPr>
        <p:spPr>
          <a:xfrm>
            <a:off x="5760720" y="2926080"/>
            <a:ext cx="4800600" cy="137160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60720" y="2926080"/>
            <a:ext cx="64008" cy="137160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25312" y="3054096"/>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Hands-free devices</a:t>
            </a:r>
          </a:p>
        </p:txBody>
      </p:sp>
      <p:sp>
        <p:nvSpPr>
          <p:cNvPr id="19" name="TextBox 18"/>
          <p:cNvSpPr txBox="1"/>
          <p:nvPr/>
        </p:nvSpPr>
        <p:spPr>
          <a:xfrm>
            <a:off x="5925312" y="3419856"/>
            <a:ext cx="4480560" cy="768096"/>
          </a:xfrm>
          <a:prstGeom prst="rect">
            <a:avLst/>
          </a:prstGeom>
          <a:noFill/>
        </p:spPr>
        <p:txBody>
          <a:bodyPr wrap="square" lIns="36576" tIns="36576" rIns="36576" bIns="36576" anchor="t">
            <a:spAutoFit/>
          </a:bodyPr>
          <a:lstStyle/>
          <a:p>
            <a:pPr algn="l"/>
            <a:r>
              <a:rPr sz="1200" b="0">
                <a:solidFill>
                  <a:srgbClr val="5C5B6E"/>
                </a:solidFill>
                <a:latin typeface="Aptos"/>
              </a:rPr>
              <a:t>Handle mid-sentence corrections and parameter changes without restarting the whole interaction.</a:t>
            </a:r>
          </a:p>
        </p:txBody>
      </p:sp>
      <p:sp>
        <p:nvSpPr>
          <p:cNvPr id="20" name="TextBox 19"/>
          <p:cNvSpPr txBox="1"/>
          <p:nvPr/>
        </p:nvSpPr>
        <p:spPr>
          <a:xfrm>
            <a:off x="731520" y="4709160"/>
            <a:ext cx="2103120" cy="320040"/>
          </a:xfrm>
          <a:prstGeom prst="rect">
            <a:avLst/>
          </a:prstGeom>
          <a:noFill/>
        </p:spPr>
        <p:txBody>
          <a:bodyPr wrap="square" lIns="36576" tIns="36576" rIns="36576" bIns="36576" anchor="t">
            <a:spAutoFit/>
          </a:bodyPr>
          <a:lstStyle/>
          <a:p>
            <a:pPr algn="l"/>
            <a:r>
              <a:rPr sz="1300" b="1">
                <a:solidFill>
                  <a:srgbClr val="6A41AE"/>
                </a:solidFill>
                <a:latin typeface="Aptos"/>
              </a:rPr>
              <a:t>Measured engineering signals</a:t>
            </a:r>
          </a:p>
        </p:txBody>
      </p:sp>
      <p:sp>
        <p:nvSpPr>
          <p:cNvPr id="21" name="Rounded Rectangle 20"/>
          <p:cNvSpPr/>
          <p:nvPr/>
        </p:nvSpPr>
        <p:spPr>
          <a:xfrm>
            <a:off x="658368" y="5138928"/>
            <a:ext cx="2331720" cy="822960"/>
          </a:xfrm>
          <a:prstGeom prst="roundRect">
            <a:avLst/>
          </a:prstGeom>
          <a:solidFill>
            <a:srgbClr val="F7F5FC"/>
          </a:solidFill>
          <a:ln>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8" y="5175504"/>
            <a:ext cx="594360" cy="320040"/>
          </a:xfrm>
          <a:prstGeom prst="rect">
            <a:avLst/>
          </a:prstGeom>
          <a:noFill/>
        </p:spPr>
        <p:txBody>
          <a:bodyPr wrap="square" lIns="36576" tIns="36576" rIns="36576" bIns="36576" anchor="t">
            <a:spAutoFit/>
          </a:bodyPr>
          <a:lstStyle/>
          <a:p>
            <a:pPr algn="l"/>
            <a:r>
              <a:rPr sz="1600" b="1">
                <a:solidFill>
                  <a:srgbClr val="6A41AE"/>
                </a:solidFill>
                <a:latin typeface="Aptos"/>
              </a:rPr>
              <a:t>100%</a:t>
            </a:r>
          </a:p>
        </p:txBody>
      </p:sp>
      <p:sp>
        <p:nvSpPr>
          <p:cNvPr id="23" name="TextBox 22"/>
          <p:cNvSpPr txBox="1"/>
          <p:nvPr/>
        </p:nvSpPr>
        <p:spPr>
          <a:xfrm>
            <a:off x="1435607" y="5138928"/>
            <a:ext cx="1417320" cy="502920"/>
          </a:xfrm>
          <a:prstGeom prst="rect">
            <a:avLst/>
          </a:prstGeom>
          <a:noFill/>
        </p:spPr>
        <p:txBody>
          <a:bodyPr wrap="square" lIns="36576" tIns="36576" rIns="36576" bIns="36576" anchor="t">
            <a:spAutoFit/>
          </a:bodyPr>
          <a:lstStyle/>
          <a:p>
            <a:pPr algn="l"/>
            <a:r>
              <a:rPr sz="880" b="0">
                <a:solidFill>
                  <a:srgbClr val="5C5B6E"/>
                </a:solidFill>
                <a:latin typeface="Aptos"/>
              </a:rPr>
              <a:t>eligible early-retrieval cases met the 80% gate in the held-out run</a:t>
            </a:r>
          </a:p>
        </p:txBody>
      </p:sp>
      <p:sp>
        <p:nvSpPr>
          <p:cNvPr id="24" name="Rounded Rectangle 23"/>
          <p:cNvSpPr/>
          <p:nvPr/>
        </p:nvSpPr>
        <p:spPr>
          <a:xfrm>
            <a:off x="3209544" y="5138928"/>
            <a:ext cx="2331720" cy="822960"/>
          </a:xfrm>
          <a:prstGeom prst="roundRect">
            <a:avLst/>
          </a:prstGeom>
          <a:solidFill>
            <a:srgbClr val="F7F5FC"/>
          </a:solidFill>
          <a:ln>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01568" y="5175504"/>
            <a:ext cx="594360" cy="320040"/>
          </a:xfrm>
          <a:prstGeom prst="rect">
            <a:avLst/>
          </a:prstGeom>
          <a:noFill/>
        </p:spPr>
        <p:txBody>
          <a:bodyPr wrap="square" lIns="36576" tIns="36576" rIns="36576" bIns="36576" anchor="t">
            <a:spAutoFit/>
          </a:bodyPr>
          <a:lstStyle/>
          <a:p>
            <a:pPr algn="l"/>
            <a:r>
              <a:rPr sz="1600" b="1">
                <a:solidFill>
                  <a:srgbClr val="6A41AE"/>
                </a:solidFill>
                <a:latin typeface="Aptos"/>
              </a:rPr>
              <a:t>75%</a:t>
            </a:r>
          </a:p>
        </p:txBody>
      </p:sp>
      <p:sp>
        <p:nvSpPr>
          <p:cNvPr id="26" name="TextBox 25"/>
          <p:cNvSpPr txBox="1"/>
          <p:nvPr/>
        </p:nvSpPr>
        <p:spPr>
          <a:xfrm>
            <a:off x="3995928" y="5166360"/>
            <a:ext cx="1417320" cy="502920"/>
          </a:xfrm>
          <a:prstGeom prst="rect">
            <a:avLst/>
          </a:prstGeom>
          <a:noFill/>
        </p:spPr>
        <p:txBody>
          <a:bodyPr wrap="square" lIns="36576" tIns="36576" rIns="36576" bIns="36576" anchor="t">
            <a:spAutoFit/>
          </a:bodyPr>
          <a:lstStyle/>
          <a:p>
            <a:pPr algn="l"/>
            <a:r>
              <a:rPr sz="880" b="0">
                <a:solidFill>
                  <a:srgbClr val="5C5B6E"/>
                </a:solidFill>
                <a:latin typeface="Aptos"/>
              </a:rPr>
              <a:t>held-out local multi-intent measurement; above the 70% target</a:t>
            </a:r>
          </a:p>
        </p:txBody>
      </p:sp>
      <p:sp>
        <p:nvSpPr>
          <p:cNvPr id="27" name="Rounded Rectangle 26"/>
          <p:cNvSpPr/>
          <p:nvPr/>
        </p:nvSpPr>
        <p:spPr>
          <a:xfrm>
            <a:off x="5875021" y="5136751"/>
            <a:ext cx="2331720" cy="822960"/>
          </a:xfrm>
          <a:prstGeom prst="roundRect">
            <a:avLst/>
          </a:prstGeom>
          <a:solidFill>
            <a:srgbClr val="F7F5FC"/>
          </a:solidFill>
          <a:ln>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8" name="TextBox 27"/>
          <p:cNvSpPr txBox="1"/>
          <p:nvPr/>
        </p:nvSpPr>
        <p:spPr>
          <a:xfrm>
            <a:off x="6007608" y="5175504"/>
            <a:ext cx="594360" cy="320040"/>
          </a:xfrm>
          <a:prstGeom prst="rect">
            <a:avLst/>
          </a:prstGeom>
          <a:noFill/>
        </p:spPr>
        <p:txBody>
          <a:bodyPr wrap="square" lIns="36576" tIns="36576" rIns="36576" bIns="36576" anchor="t">
            <a:spAutoFit/>
          </a:bodyPr>
          <a:lstStyle/>
          <a:p>
            <a:pPr algn="l"/>
            <a:r>
              <a:rPr sz="1600" b="1">
                <a:solidFill>
                  <a:srgbClr val="6A41AE"/>
                </a:solidFill>
                <a:latin typeface="Aptos"/>
              </a:rPr>
              <a:t>0</a:t>
            </a:r>
          </a:p>
        </p:txBody>
      </p:sp>
      <p:sp>
        <p:nvSpPr>
          <p:cNvPr id="29" name="TextBox 28"/>
          <p:cNvSpPr txBox="1"/>
          <p:nvPr/>
        </p:nvSpPr>
        <p:spPr>
          <a:xfrm>
            <a:off x="6647688" y="5138928"/>
            <a:ext cx="1417320" cy="502920"/>
          </a:xfrm>
          <a:prstGeom prst="rect">
            <a:avLst/>
          </a:prstGeom>
          <a:noFill/>
        </p:spPr>
        <p:txBody>
          <a:bodyPr wrap="square" lIns="36576" tIns="36576" rIns="36576" bIns="36576" anchor="t">
            <a:spAutoFit/>
          </a:bodyPr>
          <a:lstStyle/>
          <a:p>
            <a:pPr algn="l"/>
            <a:r>
              <a:rPr sz="880" b="0">
                <a:solidFill>
                  <a:srgbClr val="5C5B6E"/>
                </a:solidFill>
                <a:latin typeface="Aptos"/>
              </a:rPr>
              <a:t>retrieval calls for formatting-only updates in Phase 4 replay</a:t>
            </a:r>
          </a:p>
        </p:txBody>
      </p:sp>
      <p:sp>
        <p:nvSpPr>
          <p:cNvPr id="30" name="Rounded Rectangle 29"/>
          <p:cNvSpPr/>
          <p:nvPr/>
        </p:nvSpPr>
        <p:spPr>
          <a:xfrm>
            <a:off x="8501525" y="5102352"/>
            <a:ext cx="2331720" cy="822960"/>
          </a:xfrm>
          <a:prstGeom prst="roundRect">
            <a:avLst/>
          </a:prstGeom>
          <a:solidFill>
            <a:srgbClr val="F7F5FC"/>
          </a:solidFill>
          <a:ln>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613648" y="5175504"/>
            <a:ext cx="594360" cy="320040"/>
          </a:xfrm>
          <a:prstGeom prst="rect">
            <a:avLst/>
          </a:prstGeom>
          <a:noFill/>
        </p:spPr>
        <p:txBody>
          <a:bodyPr wrap="square" lIns="36576" tIns="36576" rIns="36576" bIns="36576" anchor="t">
            <a:spAutoFit/>
          </a:bodyPr>
          <a:lstStyle/>
          <a:p>
            <a:pPr algn="l"/>
            <a:r>
              <a:rPr sz="1600" b="1">
                <a:solidFill>
                  <a:srgbClr val="6A41AE"/>
                </a:solidFill>
                <a:latin typeface="Aptos"/>
              </a:rPr>
              <a:t>100%</a:t>
            </a:r>
          </a:p>
        </p:txBody>
      </p:sp>
      <p:sp>
        <p:nvSpPr>
          <p:cNvPr id="32" name="TextBox 31"/>
          <p:cNvSpPr txBox="1"/>
          <p:nvPr/>
        </p:nvSpPr>
        <p:spPr>
          <a:xfrm>
            <a:off x="9253728" y="5138928"/>
            <a:ext cx="1417320" cy="502920"/>
          </a:xfrm>
          <a:prstGeom prst="rect">
            <a:avLst/>
          </a:prstGeom>
          <a:noFill/>
        </p:spPr>
        <p:txBody>
          <a:bodyPr wrap="square" lIns="36576" tIns="36576" rIns="36576" bIns="36576" anchor="t">
            <a:spAutoFit/>
          </a:bodyPr>
          <a:lstStyle/>
          <a:p>
            <a:pPr algn="l"/>
            <a:r>
              <a:rPr sz="880" b="0">
                <a:solidFill>
                  <a:srgbClr val="5C5B6E"/>
                </a:solidFill>
                <a:latin typeface="Aptos"/>
              </a:rPr>
              <a:t>trace completeness across the measured streaming cases</a:t>
            </a:r>
          </a:p>
        </p:txBody>
      </p:sp>
      <p:sp>
        <p:nvSpPr>
          <p:cNvPr id="33" name="TextBox 32"/>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07</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Innovation, Results &amp; Limitations</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Evidence-led snapshot — with benchmark and production boundaries stated explicitly</a:t>
            </a:r>
          </a:p>
        </p:txBody>
      </p:sp>
      <p:sp>
        <p:nvSpPr>
          <p:cNvPr id="4" name="Rounded Rectangle 3"/>
          <p:cNvSpPr/>
          <p:nvPr/>
        </p:nvSpPr>
        <p:spPr>
          <a:xfrm>
            <a:off x="685800" y="1325880"/>
            <a:ext cx="2331720" cy="1325880"/>
          </a:xfrm>
          <a:prstGeom prst="roundRect">
            <a:avLst/>
          </a:prstGeom>
          <a:solidFill>
            <a:srgbClr val="FFFFFF"/>
          </a:solidFill>
          <a:ln>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444752"/>
            <a:ext cx="2011680" cy="347472"/>
          </a:xfrm>
          <a:prstGeom prst="rect">
            <a:avLst/>
          </a:prstGeom>
          <a:noFill/>
        </p:spPr>
        <p:txBody>
          <a:bodyPr wrap="square" lIns="36576" tIns="36576" rIns="36576" bIns="36576" anchor="t">
            <a:spAutoFit/>
          </a:bodyPr>
          <a:lstStyle/>
          <a:p>
            <a:pPr algn="ctr"/>
            <a:r>
              <a:rPr sz="1800" b="1">
                <a:solidFill>
                  <a:srgbClr val="6A41AE"/>
                </a:solidFill>
                <a:latin typeface="Aptos"/>
              </a:rPr>
              <a:t>169 / 169</a:t>
            </a:r>
          </a:p>
        </p:txBody>
      </p:sp>
      <p:sp>
        <p:nvSpPr>
          <p:cNvPr id="6" name="TextBox 5"/>
          <p:cNvSpPr txBox="1"/>
          <p:nvPr/>
        </p:nvSpPr>
        <p:spPr>
          <a:xfrm>
            <a:off x="822960" y="1856231"/>
            <a:ext cx="2011680" cy="256032"/>
          </a:xfrm>
          <a:prstGeom prst="rect">
            <a:avLst/>
          </a:prstGeom>
          <a:noFill/>
        </p:spPr>
        <p:txBody>
          <a:bodyPr wrap="square" lIns="36576" tIns="36576" rIns="36576" bIns="36576" anchor="t">
            <a:spAutoFit/>
          </a:bodyPr>
          <a:lstStyle/>
          <a:p>
            <a:pPr algn="ctr"/>
            <a:r>
              <a:rPr sz="1050" b="1">
                <a:solidFill>
                  <a:srgbClr val="1C1F34"/>
                </a:solidFill>
                <a:latin typeface="Aptos"/>
              </a:rPr>
              <a:t>tests passing</a:t>
            </a:r>
          </a:p>
        </p:txBody>
      </p:sp>
      <p:sp>
        <p:nvSpPr>
          <p:cNvPr id="7" name="TextBox 6"/>
          <p:cNvSpPr txBox="1"/>
          <p:nvPr/>
        </p:nvSpPr>
        <p:spPr>
          <a:xfrm>
            <a:off x="822960" y="2139696"/>
            <a:ext cx="2011680" cy="320040"/>
          </a:xfrm>
          <a:prstGeom prst="rect">
            <a:avLst/>
          </a:prstGeom>
          <a:noFill/>
        </p:spPr>
        <p:txBody>
          <a:bodyPr wrap="square" lIns="36576" tIns="36576" rIns="36576" bIns="36576" anchor="t">
            <a:spAutoFit/>
          </a:bodyPr>
          <a:lstStyle/>
          <a:p>
            <a:pPr algn="ctr"/>
            <a:r>
              <a:rPr sz="819" b="0">
                <a:solidFill>
                  <a:srgbClr val="5C5B6E"/>
                </a:solidFill>
                <a:latin typeface="Aptos"/>
              </a:rPr>
              <a:t>Current project test suite</a:t>
            </a:r>
          </a:p>
        </p:txBody>
      </p:sp>
      <p:sp>
        <p:nvSpPr>
          <p:cNvPr id="8" name="Rounded Rectangle 7"/>
          <p:cNvSpPr/>
          <p:nvPr/>
        </p:nvSpPr>
        <p:spPr>
          <a:xfrm>
            <a:off x="3264408" y="1325880"/>
            <a:ext cx="2331720" cy="1325880"/>
          </a:xfrm>
          <a:prstGeom prst="roundRect">
            <a:avLst/>
          </a:prstGeom>
          <a:solidFill>
            <a:srgbClr val="FFFFFF"/>
          </a:solidFill>
          <a:ln>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401568" y="1444752"/>
            <a:ext cx="2011680" cy="347472"/>
          </a:xfrm>
          <a:prstGeom prst="rect">
            <a:avLst/>
          </a:prstGeom>
          <a:noFill/>
        </p:spPr>
        <p:txBody>
          <a:bodyPr wrap="square" lIns="36576" tIns="36576" rIns="36576" bIns="36576" anchor="t">
            <a:spAutoFit/>
          </a:bodyPr>
          <a:lstStyle/>
          <a:p>
            <a:pPr algn="ctr"/>
            <a:r>
              <a:rPr sz="1800" b="1">
                <a:solidFill>
                  <a:srgbClr val="47B1AF"/>
                </a:solidFill>
                <a:latin typeface="Aptos"/>
              </a:rPr>
              <a:t>100%</a:t>
            </a:r>
          </a:p>
        </p:txBody>
      </p:sp>
      <p:sp>
        <p:nvSpPr>
          <p:cNvPr id="10" name="TextBox 9"/>
          <p:cNvSpPr txBox="1"/>
          <p:nvPr/>
        </p:nvSpPr>
        <p:spPr>
          <a:xfrm>
            <a:off x="3401568" y="1856231"/>
            <a:ext cx="2011680" cy="256032"/>
          </a:xfrm>
          <a:prstGeom prst="rect">
            <a:avLst/>
          </a:prstGeom>
          <a:noFill/>
        </p:spPr>
        <p:txBody>
          <a:bodyPr wrap="square" lIns="36576" tIns="36576" rIns="36576" bIns="36576" anchor="t">
            <a:spAutoFit/>
          </a:bodyPr>
          <a:lstStyle/>
          <a:p>
            <a:pPr algn="ctr"/>
            <a:r>
              <a:rPr sz="1050" b="1">
                <a:solidFill>
                  <a:srgbClr val="1C1F34"/>
                </a:solidFill>
                <a:latin typeface="Aptos"/>
              </a:rPr>
              <a:t>early retrieval</a:t>
            </a:r>
          </a:p>
        </p:txBody>
      </p:sp>
      <p:sp>
        <p:nvSpPr>
          <p:cNvPr id="11" name="TextBox 10"/>
          <p:cNvSpPr txBox="1"/>
          <p:nvPr/>
        </p:nvSpPr>
        <p:spPr>
          <a:xfrm>
            <a:off x="3401568" y="2139696"/>
            <a:ext cx="2011680" cy="320040"/>
          </a:xfrm>
          <a:prstGeom prst="rect">
            <a:avLst/>
          </a:prstGeom>
          <a:noFill/>
        </p:spPr>
        <p:txBody>
          <a:bodyPr wrap="square" lIns="36576" tIns="36576" rIns="36576" bIns="36576" anchor="t">
            <a:spAutoFit/>
          </a:bodyPr>
          <a:lstStyle/>
          <a:p>
            <a:pPr algn="ctr"/>
            <a:r>
              <a:rPr sz="819" b="0">
                <a:solidFill>
                  <a:srgbClr val="5C5B6E"/>
                </a:solidFill>
                <a:latin typeface="Aptos"/>
              </a:rPr>
              <a:t>6 / 6 eligible held-out cases</a:t>
            </a:r>
          </a:p>
        </p:txBody>
      </p:sp>
      <p:sp>
        <p:nvSpPr>
          <p:cNvPr id="12" name="Rounded Rectangle 11"/>
          <p:cNvSpPr/>
          <p:nvPr/>
        </p:nvSpPr>
        <p:spPr>
          <a:xfrm>
            <a:off x="5843016" y="1325880"/>
            <a:ext cx="2331720" cy="1325880"/>
          </a:xfrm>
          <a:prstGeom prst="roundRect">
            <a:avLst/>
          </a:prstGeom>
          <a:solidFill>
            <a:srgbClr val="FFFFFF"/>
          </a:solidFill>
          <a:ln>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80176" y="1444752"/>
            <a:ext cx="2011680" cy="347472"/>
          </a:xfrm>
          <a:prstGeom prst="rect">
            <a:avLst/>
          </a:prstGeom>
          <a:noFill/>
        </p:spPr>
        <p:txBody>
          <a:bodyPr wrap="square" lIns="36576" tIns="36576" rIns="36576" bIns="36576" anchor="t">
            <a:spAutoFit/>
          </a:bodyPr>
          <a:lstStyle/>
          <a:p>
            <a:pPr algn="ctr"/>
            <a:r>
              <a:rPr sz="1800" b="1">
                <a:solidFill>
                  <a:srgbClr val="6A41AE"/>
                </a:solidFill>
                <a:latin typeface="Aptos"/>
              </a:rPr>
              <a:t>75%</a:t>
            </a:r>
          </a:p>
        </p:txBody>
      </p:sp>
      <p:sp>
        <p:nvSpPr>
          <p:cNvPr id="14" name="TextBox 13"/>
          <p:cNvSpPr txBox="1"/>
          <p:nvPr/>
        </p:nvSpPr>
        <p:spPr>
          <a:xfrm>
            <a:off x="5980176" y="1856231"/>
            <a:ext cx="2011680" cy="256032"/>
          </a:xfrm>
          <a:prstGeom prst="rect">
            <a:avLst/>
          </a:prstGeom>
          <a:noFill/>
        </p:spPr>
        <p:txBody>
          <a:bodyPr wrap="square" lIns="36576" tIns="36576" rIns="36576" bIns="36576" anchor="t">
            <a:spAutoFit/>
          </a:bodyPr>
          <a:lstStyle/>
          <a:p>
            <a:pPr algn="ctr"/>
            <a:r>
              <a:rPr sz="1050" b="1">
                <a:solidFill>
                  <a:srgbClr val="1C1F34"/>
                </a:solidFill>
                <a:latin typeface="Aptos"/>
              </a:rPr>
              <a:t>multi-intent</a:t>
            </a:r>
          </a:p>
        </p:txBody>
      </p:sp>
      <p:sp>
        <p:nvSpPr>
          <p:cNvPr id="15" name="TextBox 14"/>
          <p:cNvSpPr txBox="1"/>
          <p:nvPr/>
        </p:nvSpPr>
        <p:spPr>
          <a:xfrm>
            <a:off x="5980176" y="2139696"/>
            <a:ext cx="2011680" cy="320040"/>
          </a:xfrm>
          <a:prstGeom prst="rect">
            <a:avLst/>
          </a:prstGeom>
          <a:noFill/>
        </p:spPr>
        <p:txBody>
          <a:bodyPr wrap="square" lIns="36576" tIns="36576" rIns="36576" bIns="36576" anchor="t">
            <a:spAutoFit/>
          </a:bodyPr>
          <a:lstStyle/>
          <a:p>
            <a:pPr algn="ctr"/>
            <a:r>
              <a:rPr sz="819" b="0">
                <a:solidFill>
                  <a:srgbClr val="5C5B6E"/>
                </a:solidFill>
                <a:latin typeface="Aptos"/>
              </a:rPr>
              <a:t>3 / 4 compound cases; 7 cases total</a:t>
            </a:r>
          </a:p>
        </p:txBody>
      </p:sp>
      <p:sp>
        <p:nvSpPr>
          <p:cNvPr id="16" name="Rounded Rectangle 15"/>
          <p:cNvSpPr/>
          <p:nvPr/>
        </p:nvSpPr>
        <p:spPr>
          <a:xfrm>
            <a:off x="8421624" y="1325880"/>
            <a:ext cx="2331720" cy="1325880"/>
          </a:xfrm>
          <a:prstGeom prst="roundRect">
            <a:avLst/>
          </a:prstGeom>
          <a:solidFill>
            <a:srgbClr val="FFFFFF"/>
          </a:solidFill>
          <a:ln>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58784" y="1444752"/>
            <a:ext cx="2011680" cy="347472"/>
          </a:xfrm>
          <a:prstGeom prst="rect">
            <a:avLst/>
          </a:prstGeom>
          <a:noFill/>
        </p:spPr>
        <p:txBody>
          <a:bodyPr wrap="square" lIns="36576" tIns="36576" rIns="36576" bIns="36576" anchor="t">
            <a:spAutoFit/>
          </a:bodyPr>
          <a:lstStyle/>
          <a:p>
            <a:pPr algn="ctr"/>
            <a:r>
              <a:rPr sz="1800" b="1">
                <a:solidFill>
                  <a:srgbClr val="47B1AF"/>
                </a:solidFill>
                <a:latin typeface="Aptos"/>
              </a:rPr>
              <a:t>Synthetic</a:t>
            </a:r>
          </a:p>
        </p:txBody>
      </p:sp>
      <p:sp>
        <p:nvSpPr>
          <p:cNvPr id="18" name="TextBox 17"/>
          <p:cNvSpPr txBox="1"/>
          <p:nvPr/>
        </p:nvSpPr>
        <p:spPr>
          <a:xfrm>
            <a:off x="8558784" y="1856231"/>
            <a:ext cx="2011680" cy="256032"/>
          </a:xfrm>
          <a:prstGeom prst="rect">
            <a:avLst/>
          </a:prstGeom>
          <a:noFill/>
        </p:spPr>
        <p:txBody>
          <a:bodyPr wrap="square" lIns="36576" tIns="36576" rIns="36576" bIns="36576" anchor="t">
            <a:spAutoFit/>
          </a:bodyPr>
          <a:lstStyle/>
          <a:p>
            <a:pPr algn="ctr"/>
            <a:r>
              <a:rPr sz="1050" b="1">
                <a:solidFill>
                  <a:srgbClr val="1C1F34"/>
                </a:solidFill>
                <a:latin typeface="Aptos"/>
              </a:rPr>
              <a:t>evaluation fixtures</a:t>
            </a:r>
          </a:p>
        </p:txBody>
      </p:sp>
      <p:sp>
        <p:nvSpPr>
          <p:cNvPr id="19" name="TextBox 18"/>
          <p:cNvSpPr txBox="1"/>
          <p:nvPr/>
        </p:nvSpPr>
        <p:spPr>
          <a:xfrm>
            <a:off x="8558784" y="2139696"/>
            <a:ext cx="2011680" cy="320040"/>
          </a:xfrm>
          <a:prstGeom prst="rect">
            <a:avLst/>
          </a:prstGeom>
          <a:noFill/>
        </p:spPr>
        <p:txBody>
          <a:bodyPr wrap="square" lIns="36576" tIns="36576" rIns="36576" bIns="36576" anchor="t">
            <a:spAutoFit/>
          </a:bodyPr>
          <a:lstStyle/>
          <a:p>
            <a:pPr algn="ctr"/>
            <a:r>
              <a:rPr sz="819" b="0">
                <a:solidFill>
                  <a:srgbClr val="5C5B6E"/>
                </a:solidFill>
                <a:latin typeface="Aptos"/>
              </a:rPr>
              <a:t>Provisional labels; not independent</a:t>
            </a:r>
          </a:p>
        </p:txBody>
      </p:sp>
      <p:sp>
        <p:nvSpPr>
          <p:cNvPr id="20" name="Rounded Rectangle 19"/>
          <p:cNvSpPr/>
          <p:nvPr/>
        </p:nvSpPr>
        <p:spPr>
          <a:xfrm>
            <a:off x="685800" y="2926080"/>
            <a:ext cx="3246120" cy="214884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85800" y="2926080"/>
            <a:ext cx="64008" cy="214884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 y="3054096"/>
            <a:ext cx="2926079" cy="320040"/>
          </a:xfrm>
          <a:prstGeom prst="rect">
            <a:avLst/>
          </a:prstGeom>
          <a:noFill/>
        </p:spPr>
        <p:txBody>
          <a:bodyPr wrap="square" lIns="36576" tIns="36576" rIns="36576" bIns="36576" anchor="t">
            <a:spAutoFit/>
          </a:bodyPr>
          <a:lstStyle/>
          <a:p>
            <a:pPr algn="l"/>
            <a:r>
              <a:rPr sz="1400" b="1">
                <a:solidFill>
                  <a:srgbClr val="1C1F34"/>
                </a:solidFill>
                <a:latin typeface="Aptos"/>
              </a:rPr>
              <a:t>Innovation</a:t>
            </a:r>
          </a:p>
        </p:txBody>
      </p:sp>
      <p:sp>
        <p:nvSpPr>
          <p:cNvPr id="23" name="TextBox 22"/>
          <p:cNvSpPr txBox="1"/>
          <p:nvPr/>
        </p:nvSpPr>
        <p:spPr>
          <a:xfrm>
            <a:off x="850392" y="3419856"/>
            <a:ext cx="2926079" cy="1545336"/>
          </a:xfrm>
          <a:prstGeom prst="rect">
            <a:avLst/>
          </a:prstGeom>
          <a:noFill/>
        </p:spPr>
        <p:txBody>
          <a:bodyPr wrap="square" lIns="36576" tIns="36576" rIns="36576" bIns="36576" anchor="t">
            <a:spAutoFit/>
          </a:bodyPr>
          <a:lstStyle/>
          <a:p>
            <a:pPr algn="l"/>
            <a:r>
              <a:rPr sz="1170" b="0">
                <a:solidFill>
                  <a:srgbClr val="5C5B6E"/>
                </a:solidFill>
                <a:latin typeface="Aptos"/>
              </a:rPr>
              <a:t>Speculative retrieval • multi-intent decomposition • RRF fusion • dependency-DAG updates • explicit uncertainty • zero-retrieval formatting.</a:t>
            </a:r>
          </a:p>
        </p:txBody>
      </p:sp>
      <p:sp>
        <p:nvSpPr>
          <p:cNvPr id="24" name="Rounded Rectangle 23"/>
          <p:cNvSpPr/>
          <p:nvPr/>
        </p:nvSpPr>
        <p:spPr>
          <a:xfrm>
            <a:off x="4133087" y="2926080"/>
            <a:ext cx="3246120" cy="214884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133087" y="2926080"/>
            <a:ext cx="64008" cy="2148840"/>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297679" y="3054096"/>
            <a:ext cx="2926079" cy="320040"/>
          </a:xfrm>
          <a:prstGeom prst="rect">
            <a:avLst/>
          </a:prstGeom>
          <a:noFill/>
        </p:spPr>
        <p:txBody>
          <a:bodyPr wrap="square" lIns="36576" tIns="36576" rIns="36576" bIns="36576" anchor="t">
            <a:spAutoFit/>
          </a:bodyPr>
          <a:lstStyle/>
          <a:p>
            <a:pPr algn="l"/>
            <a:r>
              <a:rPr sz="1400" b="1">
                <a:solidFill>
                  <a:srgbClr val="1C1F34"/>
                </a:solidFill>
                <a:latin typeface="Aptos"/>
              </a:rPr>
              <a:t>What the replay shows</a:t>
            </a:r>
          </a:p>
        </p:txBody>
      </p:sp>
      <p:sp>
        <p:nvSpPr>
          <p:cNvPr id="27" name="TextBox 26"/>
          <p:cNvSpPr txBox="1"/>
          <p:nvPr/>
        </p:nvSpPr>
        <p:spPr>
          <a:xfrm>
            <a:off x="4297679" y="3419856"/>
            <a:ext cx="2926079" cy="1545336"/>
          </a:xfrm>
          <a:prstGeom prst="rect">
            <a:avLst/>
          </a:prstGeom>
          <a:noFill/>
        </p:spPr>
        <p:txBody>
          <a:bodyPr wrap="square" lIns="36576" tIns="36576" rIns="36576" bIns="36576" anchor="t">
            <a:spAutoFit/>
          </a:bodyPr>
          <a:lstStyle/>
          <a:p>
            <a:pPr algn="l"/>
            <a:r>
              <a:rPr sz="1170" b="0">
                <a:solidFill>
                  <a:srgbClr val="5C5B6E"/>
                </a:solidFill>
                <a:latin typeface="Aptos"/>
              </a:rPr>
              <a:t>Late constraints and entity corrections update affected claims without a full corpus rerun; stale publications are rejected.</a:t>
            </a:r>
          </a:p>
        </p:txBody>
      </p:sp>
      <p:sp>
        <p:nvSpPr>
          <p:cNvPr id="28" name="Rounded Rectangle 27"/>
          <p:cNvSpPr/>
          <p:nvPr/>
        </p:nvSpPr>
        <p:spPr>
          <a:xfrm>
            <a:off x="7580375" y="2926080"/>
            <a:ext cx="3246120" cy="214884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580375" y="2926080"/>
            <a:ext cx="64008" cy="214884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44967" y="3054096"/>
            <a:ext cx="2926079" cy="320040"/>
          </a:xfrm>
          <a:prstGeom prst="rect">
            <a:avLst/>
          </a:prstGeom>
          <a:noFill/>
        </p:spPr>
        <p:txBody>
          <a:bodyPr wrap="square" lIns="36576" tIns="36576" rIns="36576" bIns="36576" anchor="t">
            <a:spAutoFit/>
          </a:bodyPr>
          <a:lstStyle/>
          <a:p>
            <a:pPr algn="l"/>
            <a:r>
              <a:rPr sz="1400" b="1">
                <a:solidFill>
                  <a:srgbClr val="1C1F34"/>
                </a:solidFill>
                <a:latin typeface="Aptos"/>
              </a:rPr>
              <a:t>Boundaries</a:t>
            </a:r>
          </a:p>
        </p:txBody>
      </p:sp>
      <p:sp>
        <p:nvSpPr>
          <p:cNvPr id="31" name="TextBox 30"/>
          <p:cNvSpPr txBox="1"/>
          <p:nvPr/>
        </p:nvSpPr>
        <p:spPr>
          <a:xfrm>
            <a:off x="7744967" y="3419856"/>
            <a:ext cx="2926079" cy="1545336"/>
          </a:xfrm>
          <a:prstGeom prst="rect">
            <a:avLst/>
          </a:prstGeom>
          <a:noFill/>
        </p:spPr>
        <p:txBody>
          <a:bodyPr wrap="square" lIns="36576" tIns="36576" rIns="36576" bIns="36576" anchor="t">
            <a:spAutoFit/>
          </a:bodyPr>
          <a:lstStyle/>
          <a:p>
            <a:pPr algn="l"/>
            <a:r>
              <a:rPr sz="1170" b="0">
                <a:solidFill>
                  <a:srgbClr val="5C5B6E"/>
                </a:solidFill>
                <a:latin typeface="Aptos"/>
              </a:rPr>
              <a:t>Synthetic fixtures and provisional labels. Qwen2.5:3b can return incomplete answers. Official benchmarks and production deployment remain unverified.</a:t>
            </a:r>
          </a:p>
        </p:txBody>
      </p:sp>
      <p:sp>
        <p:nvSpPr>
          <p:cNvPr id="32" name="TextBox 31"/>
          <p:cNvSpPr txBox="1"/>
          <p:nvPr/>
        </p:nvSpPr>
        <p:spPr>
          <a:xfrm>
            <a:off x="713232" y="5440680"/>
            <a:ext cx="9875520" cy="384048"/>
          </a:xfrm>
          <a:prstGeom prst="rect">
            <a:avLst/>
          </a:prstGeom>
          <a:noFill/>
        </p:spPr>
        <p:txBody>
          <a:bodyPr wrap="square" lIns="36576" tIns="36576" rIns="36576" bIns="36576" anchor="t">
            <a:spAutoFit/>
          </a:bodyPr>
          <a:lstStyle/>
          <a:p>
            <a:pPr algn="l"/>
            <a:r>
              <a:rPr sz="1100" b="0">
                <a:solidFill>
                  <a:srgbClr val="5C5B6E"/>
                </a:solidFill>
                <a:latin typeface="Aptos"/>
              </a:rPr>
              <a:t>Important: measured results are reported for the current local evaluation setup; they are not claims of official benchmark performance.</a:t>
            </a:r>
          </a:p>
        </p:txBody>
      </p:sp>
      <p:sp>
        <p:nvSpPr>
          <p:cNvPr id="33" name="TextBox 32"/>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08</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What’s Next</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A practical path from a reproducible prototype to production-scale streaming RAG</a:t>
            </a:r>
          </a:p>
        </p:txBody>
      </p:sp>
      <p:sp>
        <p:nvSpPr>
          <p:cNvPr id="4" name="TextBox 3"/>
          <p:cNvSpPr txBox="1"/>
          <p:nvPr/>
        </p:nvSpPr>
        <p:spPr>
          <a:xfrm>
            <a:off x="713232" y="1261872"/>
            <a:ext cx="502920" cy="347472"/>
          </a:xfrm>
          <a:prstGeom prst="rect">
            <a:avLst/>
          </a:prstGeom>
          <a:noFill/>
        </p:spPr>
        <p:txBody>
          <a:bodyPr wrap="square" lIns="36576" tIns="36576" rIns="36576" bIns="36576" anchor="t">
            <a:spAutoFit/>
          </a:bodyPr>
          <a:lstStyle/>
          <a:p>
            <a:pPr algn="l"/>
            <a:r>
              <a:rPr sz="1200" b="1">
                <a:solidFill>
                  <a:srgbClr val="6A41AE"/>
                </a:solidFill>
                <a:latin typeface="Aptos"/>
              </a:rPr>
              <a:t>01</a:t>
            </a:r>
          </a:p>
        </p:txBody>
      </p:sp>
      <p:sp>
        <p:nvSpPr>
          <p:cNvPr id="5" name="TextBox 4"/>
          <p:cNvSpPr txBox="1"/>
          <p:nvPr/>
        </p:nvSpPr>
        <p:spPr>
          <a:xfrm>
            <a:off x="1298448" y="1261872"/>
            <a:ext cx="2468880" cy="347472"/>
          </a:xfrm>
          <a:prstGeom prst="rect">
            <a:avLst/>
          </a:prstGeom>
          <a:noFill/>
        </p:spPr>
        <p:txBody>
          <a:bodyPr wrap="square" lIns="36576" tIns="36576" rIns="36576" bIns="36576" anchor="t">
            <a:spAutoFit/>
          </a:bodyPr>
          <a:lstStyle/>
          <a:p>
            <a:pPr algn="l"/>
            <a:r>
              <a:rPr sz="1250" b="1">
                <a:solidFill>
                  <a:srgbClr val="1C1F34"/>
                </a:solidFill>
                <a:latin typeface="Aptos"/>
              </a:rPr>
              <a:t>Direct audio streaming</a:t>
            </a:r>
          </a:p>
        </p:txBody>
      </p:sp>
      <p:sp>
        <p:nvSpPr>
          <p:cNvPr id="6" name="TextBox 5"/>
          <p:cNvSpPr txBox="1"/>
          <p:nvPr/>
        </p:nvSpPr>
        <p:spPr>
          <a:xfrm>
            <a:off x="3703320" y="1261872"/>
            <a:ext cx="6903720" cy="438912"/>
          </a:xfrm>
          <a:prstGeom prst="rect">
            <a:avLst/>
          </a:prstGeom>
          <a:noFill/>
        </p:spPr>
        <p:txBody>
          <a:bodyPr wrap="square" lIns="36576" tIns="36576" rIns="36576" bIns="36576" anchor="t">
            <a:spAutoFit/>
          </a:bodyPr>
          <a:lstStyle/>
          <a:p>
            <a:pPr algn="l"/>
            <a:r>
              <a:rPr sz="1150" b="0">
                <a:solidFill>
                  <a:srgbClr val="5C5B6E"/>
                </a:solidFill>
                <a:latin typeface="Aptos"/>
              </a:rPr>
              <a:t>Connect WebRTC / WebSocket audio directly to streaming ASR and FlowContext.</a:t>
            </a:r>
          </a:p>
        </p:txBody>
      </p:sp>
      <p:sp>
        <p:nvSpPr>
          <p:cNvPr id="7" name="Rectangle 6"/>
          <p:cNvSpPr/>
          <p:nvPr/>
        </p:nvSpPr>
        <p:spPr>
          <a:xfrm>
            <a:off x="1298448" y="1856231"/>
            <a:ext cx="9144000" cy="9144"/>
          </a:xfrm>
          <a:prstGeom prst="rect">
            <a:avLst/>
          </a:prstGeom>
          <a:solidFill>
            <a:srgbClr val="E1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13232" y="2157984"/>
            <a:ext cx="502920" cy="347472"/>
          </a:xfrm>
          <a:prstGeom prst="rect">
            <a:avLst/>
          </a:prstGeom>
          <a:noFill/>
        </p:spPr>
        <p:txBody>
          <a:bodyPr wrap="square" lIns="36576" tIns="36576" rIns="36576" bIns="36576" anchor="t">
            <a:spAutoFit/>
          </a:bodyPr>
          <a:lstStyle/>
          <a:p>
            <a:pPr algn="l"/>
            <a:r>
              <a:rPr sz="1200" b="1">
                <a:solidFill>
                  <a:srgbClr val="6A41AE"/>
                </a:solidFill>
                <a:latin typeface="Aptos"/>
              </a:rPr>
              <a:t>02</a:t>
            </a:r>
          </a:p>
        </p:txBody>
      </p:sp>
      <p:sp>
        <p:nvSpPr>
          <p:cNvPr id="9" name="TextBox 8"/>
          <p:cNvSpPr txBox="1"/>
          <p:nvPr/>
        </p:nvSpPr>
        <p:spPr>
          <a:xfrm>
            <a:off x="1298448" y="2157984"/>
            <a:ext cx="2468880" cy="347472"/>
          </a:xfrm>
          <a:prstGeom prst="rect">
            <a:avLst/>
          </a:prstGeom>
          <a:noFill/>
        </p:spPr>
        <p:txBody>
          <a:bodyPr wrap="square" lIns="36576" tIns="36576" rIns="36576" bIns="36576" anchor="t">
            <a:spAutoFit/>
          </a:bodyPr>
          <a:lstStyle/>
          <a:p>
            <a:pPr algn="l"/>
            <a:r>
              <a:rPr sz="1250" b="1">
                <a:solidFill>
                  <a:srgbClr val="1C1F34"/>
                </a:solidFill>
                <a:latin typeface="Aptos"/>
              </a:rPr>
              <a:t>Distributed session state</a:t>
            </a:r>
          </a:p>
        </p:txBody>
      </p:sp>
      <p:sp>
        <p:nvSpPr>
          <p:cNvPr id="10" name="TextBox 9"/>
          <p:cNvSpPr txBox="1"/>
          <p:nvPr/>
        </p:nvSpPr>
        <p:spPr>
          <a:xfrm>
            <a:off x="3703320" y="2157984"/>
            <a:ext cx="6903720" cy="438912"/>
          </a:xfrm>
          <a:prstGeom prst="rect">
            <a:avLst/>
          </a:prstGeom>
          <a:noFill/>
        </p:spPr>
        <p:txBody>
          <a:bodyPr wrap="square" lIns="36576" tIns="36576" rIns="36576" bIns="36576" anchor="t">
            <a:spAutoFit/>
          </a:bodyPr>
          <a:lstStyle/>
          <a:p>
            <a:pPr algn="l"/>
            <a:r>
              <a:rPr sz="1150" b="0">
                <a:solidFill>
                  <a:srgbClr val="5C5B6E"/>
                </a:solidFill>
                <a:latin typeface="Aptos"/>
              </a:rPr>
              <a:t>Add Redis / Dragonfly adapters for horizontally scaled deployments.</a:t>
            </a:r>
          </a:p>
        </p:txBody>
      </p:sp>
      <p:sp>
        <p:nvSpPr>
          <p:cNvPr id="11" name="Rectangle 10"/>
          <p:cNvSpPr/>
          <p:nvPr/>
        </p:nvSpPr>
        <p:spPr>
          <a:xfrm>
            <a:off x="1298448" y="2752344"/>
            <a:ext cx="9144000" cy="9144"/>
          </a:xfrm>
          <a:prstGeom prst="rect">
            <a:avLst/>
          </a:prstGeom>
          <a:solidFill>
            <a:srgbClr val="E1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3054096"/>
            <a:ext cx="502920" cy="347472"/>
          </a:xfrm>
          <a:prstGeom prst="rect">
            <a:avLst/>
          </a:prstGeom>
          <a:noFill/>
        </p:spPr>
        <p:txBody>
          <a:bodyPr wrap="square" lIns="36576" tIns="36576" rIns="36576" bIns="36576" anchor="t">
            <a:spAutoFit/>
          </a:bodyPr>
          <a:lstStyle/>
          <a:p>
            <a:pPr algn="l"/>
            <a:r>
              <a:rPr sz="1200" b="1">
                <a:solidFill>
                  <a:srgbClr val="6A41AE"/>
                </a:solidFill>
                <a:latin typeface="Aptos"/>
              </a:rPr>
              <a:t>03</a:t>
            </a:r>
          </a:p>
        </p:txBody>
      </p:sp>
      <p:sp>
        <p:nvSpPr>
          <p:cNvPr id="13" name="TextBox 12"/>
          <p:cNvSpPr txBox="1"/>
          <p:nvPr/>
        </p:nvSpPr>
        <p:spPr>
          <a:xfrm>
            <a:off x="1298448" y="3054096"/>
            <a:ext cx="2468880" cy="347472"/>
          </a:xfrm>
          <a:prstGeom prst="rect">
            <a:avLst/>
          </a:prstGeom>
          <a:noFill/>
        </p:spPr>
        <p:txBody>
          <a:bodyPr wrap="square" lIns="36576" tIns="36576" rIns="36576" bIns="36576" anchor="t">
            <a:spAutoFit/>
          </a:bodyPr>
          <a:lstStyle/>
          <a:p>
            <a:pPr algn="l"/>
            <a:r>
              <a:rPr sz="1250" b="1">
                <a:solidFill>
                  <a:srgbClr val="1C1F34"/>
                </a:solidFill>
                <a:latin typeface="Aptos"/>
              </a:rPr>
              <a:t>Entity alias resolution</a:t>
            </a:r>
          </a:p>
        </p:txBody>
      </p:sp>
      <p:sp>
        <p:nvSpPr>
          <p:cNvPr id="14" name="TextBox 13"/>
          <p:cNvSpPr txBox="1"/>
          <p:nvPr/>
        </p:nvSpPr>
        <p:spPr>
          <a:xfrm>
            <a:off x="3703320" y="3054096"/>
            <a:ext cx="6903720" cy="438912"/>
          </a:xfrm>
          <a:prstGeom prst="rect">
            <a:avLst/>
          </a:prstGeom>
          <a:noFill/>
        </p:spPr>
        <p:txBody>
          <a:bodyPr wrap="square" lIns="36576" tIns="36576" rIns="36576" bIns="36576" anchor="t">
            <a:spAutoFit/>
          </a:bodyPr>
          <a:lstStyle/>
          <a:p>
            <a:pPr algn="l"/>
            <a:r>
              <a:rPr sz="1150" b="0">
                <a:solidFill>
                  <a:srgbClr val="5C5B6E"/>
                </a:solidFill>
                <a:latin typeface="Aptos"/>
              </a:rPr>
              <a:t>Handle coreference, acronyms, and entity aliases across long multi-turn dialogs.</a:t>
            </a:r>
          </a:p>
        </p:txBody>
      </p:sp>
      <p:sp>
        <p:nvSpPr>
          <p:cNvPr id="15" name="Rectangle 14"/>
          <p:cNvSpPr/>
          <p:nvPr/>
        </p:nvSpPr>
        <p:spPr>
          <a:xfrm>
            <a:off x="1298448" y="3648456"/>
            <a:ext cx="9144000" cy="9144"/>
          </a:xfrm>
          <a:prstGeom prst="rect">
            <a:avLst/>
          </a:prstGeom>
          <a:solidFill>
            <a:srgbClr val="E1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3950208"/>
            <a:ext cx="502920" cy="347472"/>
          </a:xfrm>
          <a:prstGeom prst="rect">
            <a:avLst/>
          </a:prstGeom>
          <a:noFill/>
        </p:spPr>
        <p:txBody>
          <a:bodyPr wrap="square" lIns="36576" tIns="36576" rIns="36576" bIns="36576" anchor="t">
            <a:spAutoFit/>
          </a:bodyPr>
          <a:lstStyle/>
          <a:p>
            <a:pPr algn="l"/>
            <a:r>
              <a:rPr sz="1200" b="1">
                <a:solidFill>
                  <a:srgbClr val="6A41AE"/>
                </a:solidFill>
                <a:latin typeface="Aptos"/>
              </a:rPr>
              <a:t>04</a:t>
            </a:r>
          </a:p>
        </p:txBody>
      </p:sp>
      <p:sp>
        <p:nvSpPr>
          <p:cNvPr id="17" name="TextBox 16"/>
          <p:cNvSpPr txBox="1"/>
          <p:nvPr/>
        </p:nvSpPr>
        <p:spPr>
          <a:xfrm>
            <a:off x="1298448" y="3950208"/>
            <a:ext cx="2468880" cy="347472"/>
          </a:xfrm>
          <a:prstGeom prst="rect">
            <a:avLst/>
          </a:prstGeom>
          <a:noFill/>
        </p:spPr>
        <p:txBody>
          <a:bodyPr wrap="square" lIns="36576" tIns="36576" rIns="36576" bIns="36576" anchor="t">
            <a:spAutoFit/>
          </a:bodyPr>
          <a:lstStyle/>
          <a:p>
            <a:pPr algn="l"/>
            <a:r>
              <a:rPr sz="1250" b="1">
                <a:solidFill>
                  <a:srgbClr val="1C1F34"/>
                </a:solidFill>
                <a:latin typeface="Aptos"/>
              </a:rPr>
              <a:t>On-device optimization</a:t>
            </a:r>
          </a:p>
        </p:txBody>
      </p:sp>
      <p:sp>
        <p:nvSpPr>
          <p:cNvPr id="18" name="TextBox 17"/>
          <p:cNvSpPr txBox="1"/>
          <p:nvPr/>
        </p:nvSpPr>
        <p:spPr>
          <a:xfrm>
            <a:off x="3703320" y="3950208"/>
            <a:ext cx="6903720" cy="438912"/>
          </a:xfrm>
          <a:prstGeom prst="rect">
            <a:avLst/>
          </a:prstGeom>
          <a:noFill/>
        </p:spPr>
        <p:txBody>
          <a:bodyPr wrap="square" lIns="36576" tIns="36576" rIns="36576" bIns="36576" anchor="t">
            <a:spAutoFit/>
          </a:bodyPr>
          <a:lstStyle/>
          <a:p>
            <a:pPr algn="l"/>
            <a:r>
              <a:rPr sz="1150" b="0">
                <a:solidFill>
                  <a:srgbClr val="5C5B6E"/>
                </a:solidFill>
                <a:latin typeface="Aptos"/>
              </a:rPr>
              <a:t>Explore quantized embedding/SLM execution for Samsung Galaxy-class NPU targets.</a:t>
            </a:r>
          </a:p>
        </p:txBody>
      </p:sp>
      <p:sp>
        <p:nvSpPr>
          <p:cNvPr id="19" name="Rectangle 18"/>
          <p:cNvSpPr/>
          <p:nvPr/>
        </p:nvSpPr>
        <p:spPr>
          <a:xfrm>
            <a:off x="1298448" y="4544568"/>
            <a:ext cx="9144000" cy="9144"/>
          </a:xfrm>
          <a:prstGeom prst="rect">
            <a:avLst/>
          </a:prstGeom>
          <a:solidFill>
            <a:srgbClr val="E1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13232" y="4846320"/>
            <a:ext cx="502920" cy="347472"/>
          </a:xfrm>
          <a:prstGeom prst="rect">
            <a:avLst/>
          </a:prstGeom>
          <a:noFill/>
        </p:spPr>
        <p:txBody>
          <a:bodyPr wrap="square" lIns="36576" tIns="36576" rIns="36576" bIns="36576" anchor="t">
            <a:spAutoFit/>
          </a:bodyPr>
          <a:lstStyle/>
          <a:p>
            <a:pPr algn="l"/>
            <a:r>
              <a:rPr sz="1200" b="1">
                <a:solidFill>
                  <a:srgbClr val="6A41AE"/>
                </a:solidFill>
                <a:latin typeface="Aptos"/>
              </a:rPr>
              <a:t>05</a:t>
            </a:r>
          </a:p>
        </p:txBody>
      </p:sp>
      <p:sp>
        <p:nvSpPr>
          <p:cNvPr id="21" name="TextBox 20"/>
          <p:cNvSpPr txBox="1"/>
          <p:nvPr/>
        </p:nvSpPr>
        <p:spPr>
          <a:xfrm>
            <a:off x="1298448" y="4846320"/>
            <a:ext cx="2468880" cy="347472"/>
          </a:xfrm>
          <a:prstGeom prst="rect">
            <a:avLst/>
          </a:prstGeom>
          <a:noFill/>
        </p:spPr>
        <p:txBody>
          <a:bodyPr wrap="square" lIns="36576" tIns="36576" rIns="36576" bIns="36576" anchor="t">
            <a:spAutoFit/>
          </a:bodyPr>
          <a:lstStyle/>
          <a:p>
            <a:pPr algn="l"/>
            <a:r>
              <a:rPr sz="1250" b="1">
                <a:solidFill>
                  <a:srgbClr val="1C1F34"/>
                </a:solidFill>
                <a:latin typeface="Aptos"/>
              </a:rPr>
              <a:t>Multimodal Live RAG</a:t>
            </a:r>
          </a:p>
        </p:txBody>
      </p:sp>
      <p:sp>
        <p:nvSpPr>
          <p:cNvPr id="22" name="TextBox 21"/>
          <p:cNvSpPr txBox="1"/>
          <p:nvPr/>
        </p:nvSpPr>
        <p:spPr>
          <a:xfrm>
            <a:off x="3703320" y="4846320"/>
            <a:ext cx="6903720" cy="438912"/>
          </a:xfrm>
          <a:prstGeom prst="rect">
            <a:avLst/>
          </a:prstGeom>
          <a:noFill/>
        </p:spPr>
        <p:txBody>
          <a:bodyPr wrap="square" lIns="36576" tIns="36576" rIns="36576" bIns="36576" anchor="t">
            <a:spAutoFit/>
          </a:bodyPr>
          <a:lstStyle/>
          <a:p>
            <a:pPr algn="l"/>
            <a:r>
              <a:rPr sz="1150" b="0">
                <a:solidFill>
                  <a:srgbClr val="5C5B6E"/>
                </a:solidFill>
                <a:latin typeface="Aptos"/>
              </a:rPr>
              <a:t>Extend speculative retrieval from live transcripts to video frames and document-camera feeds.</a:t>
            </a:r>
          </a:p>
        </p:txBody>
      </p:sp>
      <p:sp>
        <p:nvSpPr>
          <p:cNvPr id="23" name="TextBox 22"/>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09</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Why FlowContext Is Different</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Differentiation is architectural — not dependent on a large agent stack</a:t>
            </a:r>
          </a:p>
        </p:txBody>
      </p:sp>
      <p:sp>
        <p:nvSpPr>
          <p:cNvPr id="4" name="Rounded Rectangle 3"/>
          <p:cNvSpPr/>
          <p:nvPr/>
        </p:nvSpPr>
        <p:spPr>
          <a:xfrm>
            <a:off x="685800" y="1325880"/>
            <a:ext cx="4800600" cy="1078992"/>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85800" y="1325880"/>
            <a:ext cx="64008" cy="1078992"/>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453895"/>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01  Streaming-first</a:t>
            </a:r>
          </a:p>
        </p:txBody>
      </p:sp>
      <p:sp>
        <p:nvSpPr>
          <p:cNvPr id="7" name="TextBox 6"/>
          <p:cNvSpPr txBox="1"/>
          <p:nvPr/>
        </p:nvSpPr>
        <p:spPr>
          <a:xfrm>
            <a:off x="850392" y="1819656"/>
            <a:ext cx="4480560" cy="475487"/>
          </a:xfrm>
          <a:prstGeom prst="rect">
            <a:avLst/>
          </a:prstGeom>
          <a:noFill/>
        </p:spPr>
        <p:txBody>
          <a:bodyPr wrap="square" lIns="36576" tIns="36576" rIns="36576" bIns="36576" anchor="t">
            <a:spAutoFit/>
          </a:bodyPr>
          <a:lstStyle/>
          <a:p>
            <a:pPr algn="l"/>
            <a:r>
              <a:rPr sz="1080" b="0">
                <a:solidFill>
                  <a:srgbClr val="5C5B6E"/>
                </a:solidFill>
                <a:latin typeface="Aptos"/>
              </a:rPr>
              <a:t>Retrieval can begin from stable partial transcripts before the final event.</a:t>
            </a:r>
          </a:p>
        </p:txBody>
      </p:sp>
      <p:sp>
        <p:nvSpPr>
          <p:cNvPr id="8" name="Rounded Rectangle 7"/>
          <p:cNvSpPr/>
          <p:nvPr/>
        </p:nvSpPr>
        <p:spPr>
          <a:xfrm>
            <a:off x="5760720" y="1325880"/>
            <a:ext cx="4800600" cy="1078992"/>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760720" y="1325880"/>
            <a:ext cx="64008" cy="1078992"/>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25312" y="1453895"/>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02  Surgical state</a:t>
            </a:r>
          </a:p>
        </p:txBody>
      </p:sp>
      <p:sp>
        <p:nvSpPr>
          <p:cNvPr id="11" name="TextBox 10"/>
          <p:cNvSpPr txBox="1"/>
          <p:nvPr/>
        </p:nvSpPr>
        <p:spPr>
          <a:xfrm>
            <a:off x="5925312" y="1819656"/>
            <a:ext cx="4480560" cy="475487"/>
          </a:xfrm>
          <a:prstGeom prst="rect">
            <a:avLst/>
          </a:prstGeom>
          <a:noFill/>
        </p:spPr>
        <p:txBody>
          <a:bodyPr wrap="square" lIns="36576" tIns="36576" rIns="36576" bIns="36576" anchor="t">
            <a:spAutoFit/>
          </a:bodyPr>
          <a:lstStyle/>
          <a:p>
            <a:pPr algn="l"/>
            <a:r>
              <a:rPr sz="1080" b="0">
                <a:solidFill>
                  <a:srgbClr val="5C5B6E"/>
                </a:solidFill>
                <a:latin typeface="Aptos"/>
              </a:rPr>
              <a:t>A dependency DAG tracks which claims depend on which intents/evidence.</a:t>
            </a:r>
          </a:p>
        </p:txBody>
      </p:sp>
      <p:sp>
        <p:nvSpPr>
          <p:cNvPr id="12" name="Rounded Rectangle 11"/>
          <p:cNvSpPr/>
          <p:nvPr/>
        </p:nvSpPr>
        <p:spPr>
          <a:xfrm>
            <a:off x="685800" y="2587752"/>
            <a:ext cx="4800600" cy="1078992"/>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2587752"/>
            <a:ext cx="64008" cy="1078992"/>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0392" y="2715768"/>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03  Deterministic retrieval</a:t>
            </a:r>
          </a:p>
        </p:txBody>
      </p:sp>
      <p:sp>
        <p:nvSpPr>
          <p:cNvPr id="15" name="TextBox 14"/>
          <p:cNvSpPr txBox="1"/>
          <p:nvPr/>
        </p:nvSpPr>
        <p:spPr>
          <a:xfrm>
            <a:off x="850392" y="3081528"/>
            <a:ext cx="4480560" cy="475487"/>
          </a:xfrm>
          <a:prstGeom prst="rect">
            <a:avLst/>
          </a:prstGeom>
          <a:noFill/>
        </p:spPr>
        <p:txBody>
          <a:bodyPr wrap="square" lIns="36576" tIns="36576" rIns="36576" bIns="36576" anchor="t">
            <a:spAutoFit/>
          </a:bodyPr>
          <a:lstStyle/>
          <a:p>
            <a:pPr algn="l"/>
            <a:r>
              <a:rPr sz="1080" b="0">
                <a:solidFill>
                  <a:srgbClr val="5C5B6E"/>
                </a:solidFill>
                <a:latin typeface="Aptos"/>
              </a:rPr>
              <a:t>Dense + lexical retrieval are fused explicitly with RRF rather than hidden behind an agent loop.</a:t>
            </a:r>
          </a:p>
        </p:txBody>
      </p:sp>
      <p:sp>
        <p:nvSpPr>
          <p:cNvPr id="16" name="Rounded Rectangle 15"/>
          <p:cNvSpPr/>
          <p:nvPr/>
        </p:nvSpPr>
        <p:spPr>
          <a:xfrm>
            <a:off x="5760720" y="2587752"/>
            <a:ext cx="4800600" cy="1078992"/>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760720" y="2587752"/>
            <a:ext cx="64008" cy="1078992"/>
          </a:xfrm>
          <a:prstGeom prst="rect">
            <a:avLst/>
          </a:prstGeom>
          <a:solidFill>
            <a:srgbClr val="47B1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25312" y="2715768"/>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04  Grounded publication</a:t>
            </a:r>
          </a:p>
        </p:txBody>
      </p:sp>
      <p:sp>
        <p:nvSpPr>
          <p:cNvPr id="19" name="TextBox 18"/>
          <p:cNvSpPr txBox="1"/>
          <p:nvPr/>
        </p:nvSpPr>
        <p:spPr>
          <a:xfrm>
            <a:off x="5925312" y="3081528"/>
            <a:ext cx="4480560" cy="475487"/>
          </a:xfrm>
          <a:prstGeom prst="rect">
            <a:avLst/>
          </a:prstGeom>
          <a:noFill/>
        </p:spPr>
        <p:txBody>
          <a:bodyPr wrap="square" lIns="36576" tIns="36576" rIns="36576" bIns="36576" anchor="t">
            <a:spAutoFit/>
          </a:bodyPr>
          <a:lstStyle/>
          <a:p>
            <a:pPr algn="l"/>
            <a:r>
              <a:rPr sz="1080" b="0">
                <a:solidFill>
                  <a:srgbClr val="5C5B6E"/>
                </a:solidFill>
                <a:latin typeface="Aptos"/>
              </a:rPr>
              <a:t>Answer versions carry atomic claims and provenance; unsupported requests can remain partial/uncertain.</a:t>
            </a:r>
          </a:p>
        </p:txBody>
      </p:sp>
      <p:sp>
        <p:nvSpPr>
          <p:cNvPr id="20" name="Rounded Rectangle 19"/>
          <p:cNvSpPr/>
          <p:nvPr/>
        </p:nvSpPr>
        <p:spPr>
          <a:xfrm>
            <a:off x="685800" y="3849624"/>
            <a:ext cx="4800600" cy="1078992"/>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85800" y="3849624"/>
            <a:ext cx="64008" cy="1078992"/>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392" y="3977639"/>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05  Presentation is separate</a:t>
            </a:r>
          </a:p>
        </p:txBody>
      </p:sp>
      <p:sp>
        <p:nvSpPr>
          <p:cNvPr id="23" name="TextBox 22"/>
          <p:cNvSpPr txBox="1"/>
          <p:nvPr/>
        </p:nvSpPr>
        <p:spPr>
          <a:xfrm>
            <a:off x="850392" y="4343400"/>
            <a:ext cx="4480560" cy="475487"/>
          </a:xfrm>
          <a:prstGeom prst="rect">
            <a:avLst/>
          </a:prstGeom>
          <a:noFill/>
        </p:spPr>
        <p:txBody>
          <a:bodyPr wrap="square" lIns="36576" tIns="36576" rIns="36576" bIns="36576" anchor="t">
            <a:spAutoFit/>
          </a:bodyPr>
          <a:lstStyle/>
          <a:p>
            <a:pPr algn="l"/>
            <a:r>
              <a:rPr sz="1080" b="0">
                <a:solidFill>
                  <a:srgbClr val="5C5B6E"/>
                </a:solidFill>
                <a:latin typeface="Aptos"/>
              </a:rPr>
              <a:t>Formatting-only changes are handled without retrieval, avoiding unnecessary backend work.</a:t>
            </a:r>
          </a:p>
        </p:txBody>
      </p:sp>
      <p:sp>
        <p:nvSpPr>
          <p:cNvPr id="24" name="Rounded Rectangle 23"/>
          <p:cNvSpPr/>
          <p:nvPr/>
        </p:nvSpPr>
        <p:spPr>
          <a:xfrm>
            <a:off x="3218688" y="5138928"/>
            <a:ext cx="4800600" cy="914400"/>
          </a:xfrm>
          <a:prstGeom prst="roundRect">
            <a:avLst/>
          </a:prstGeom>
          <a:solidFill>
            <a:srgbClr val="FFFFFF"/>
          </a:solidFill>
          <a:ln w="12700">
            <a:solidFill>
              <a:srgbClr val="E1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3218688" y="5138928"/>
            <a:ext cx="64008" cy="914400"/>
          </a:xfrm>
          <a:prstGeom prst="rect">
            <a:avLst/>
          </a:prstGeom>
          <a:solidFill>
            <a:srgbClr val="6A41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383280" y="5266944"/>
            <a:ext cx="4480560" cy="320040"/>
          </a:xfrm>
          <a:prstGeom prst="rect">
            <a:avLst/>
          </a:prstGeom>
          <a:noFill/>
        </p:spPr>
        <p:txBody>
          <a:bodyPr wrap="square" lIns="36576" tIns="36576" rIns="36576" bIns="36576" anchor="t">
            <a:spAutoFit/>
          </a:bodyPr>
          <a:lstStyle/>
          <a:p>
            <a:pPr algn="l"/>
            <a:r>
              <a:rPr sz="1400" b="1">
                <a:solidFill>
                  <a:srgbClr val="1C1F34"/>
                </a:solidFill>
                <a:latin typeface="Aptos"/>
              </a:rPr>
              <a:t>06  Local inference</a:t>
            </a:r>
          </a:p>
        </p:txBody>
      </p:sp>
      <p:sp>
        <p:nvSpPr>
          <p:cNvPr id="27" name="TextBox 26"/>
          <p:cNvSpPr txBox="1"/>
          <p:nvPr/>
        </p:nvSpPr>
        <p:spPr>
          <a:xfrm>
            <a:off x="3383280" y="5632704"/>
            <a:ext cx="4480560" cy="310896"/>
          </a:xfrm>
          <a:prstGeom prst="rect">
            <a:avLst/>
          </a:prstGeom>
          <a:noFill/>
        </p:spPr>
        <p:txBody>
          <a:bodyPr wrap="square" lIns="36576" tIns="36576" rIns="36576" bIns="36576" anchor="t">
            <a:spAutoFit/>
          </a:bodyPr>
          <a:lstStyle/>
          <a:p>
            <a:pPr algn="l"/>
            <a:r>
              <a:rPr sz="1050" b="0">
                <a:solidFill>
                  <a:srgbClr val="5C5B6E"/>
                </a:solidFill>
                <a:latin typeface="Aptos"/>
              </a:rPr>
              <a:t>Ollama runs locally; small models can leave intents unanswered.</a:t>
            </a:r>
          </a:p>
        </p:txBody>
      </p:sp>
      <p:sp>
        <p:nvSpPr>
          <p:cNvPr id="28" name="TextBox 27"/>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10</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58368" y="347472"/>
            <a:ext cx="9144000" cy="566928"/>
          </a:xfrm>
          <a:prstGeom prst="rect">
            <a:avLst/>
          </a:prstGeom>
          <a:noFill/>
        </p:spPr>
        <p:txBody>
          <a:bodyPr wrap="square" lIns="36576" tIns="36576" rIns="36576" bIns="36576" anchor="t">
            <a:spAutoFit/>
          </a:bodyPr>
          <a:lstStyle/>
          <a:p>
            <a:pPr algn="l"/>
            <a:r>
              <a:rPr sz="2500" b="1">
                <a:solidFill>
                  <a:srgbClr val="6A41AE"/>
                </a:solidFill>
                <a:latin typeface="Aptos"/>
              </a:rPr>
              <a:t>Submission Checklist</a:t>
            </a:r>
          </a:p>
        </p:txBody>
      </p:sp>
      <p:sp>
        <p:nvSpPr>
          <p:cNvPr id="3" name="TextBox 2"/>
          <p:cNvSpPr txBox="1"/>
          <p:nvPr/>
        </p:nvSpPr>
        <p:spPr>
          <a:xfrm>
            <a:off x="676656" y="932688"/>
            <a:ext cx="9144000" cy="274320"/>
          </a:xfrm>
          <a:prstGeom prst="rect">
            <a:avLst/>
          </a:prstGeom>
          <a:noFill/>
        </p:spPr>
        <p:txBody>
          <a:bodyPr wrap="square" lIns="36576" tIns="36576" rIns="36576" bIns="36576" anchor="t">
            <a:spAutoFit/>
          </a:bodyPr>
          <a:lstStyle/>
          <a:p>
            <a:pPr algn="l"/>
            <a:r>
              <a:rPr sz="1000" b="0">
                <a:solidFill>
                  <a:srgbClr val="5C5B6E"/>
                </a:solidFill>
                <a:latin typeface="Aptos"/>
              </a:rPr>
              <a:t>Code, presentation, disclosure and video are included in the tagged commit.</a:t>
            </a:r>
          </a:p>
        </p:txBody>
      </p:sp>
      <p:sp>
        <p:nvSpPr>
          <p:cNvPr id="4" name="TextBox 3"/>
          <p:cNvSpPr txBox="1"/>
          <p:nvPr/>
        </p:nvSpPr>
        <p:spPr>
          <a:xfrm>
            <a:off x="777240" y="1298448"/>
            <a:ext cx="320040" cy="320040"/>
          </a:xfrm>
          <a:prstGeom prst="rect">
            <a:avLst/>
          </a:prstGeom>
          <a:noFill/>
        </p:spPr>
        <p:txBody>
          <a:bodyPr wrap="square" lIns="36576" tIns="36576" rIns="36576" bIns="36576" anchor="t">
            <a:spAutoFit/>
          </a:bodyPr>
          <a:lstStyle/>
          <a:p>
            <a:pPr algn="ctr"/>
            <a:r>
              <a:rPr sz="1500" b="1">
                <a:solidFill>
                  <a:srgbClr val="2A915E"/>
                </a:solidFill>
                <a:latin typeface="Aptos"/>
              </a:rPr>
              <a:t>✓</a:t>
            </a:r>
          </a:p>
        </p:txBody>
      </p:sp>
      <p:sp>
        <p:nvSpPr>
          <p:cNvPr id="5" name="TextBox 4"/>
          <p:cNvSpPr txBox="1"/>
          <p:nvPr/>
        </p:nvSpPr>
        <p:spPr>
          <a:xfrm>
            <a:off x="1234440" y="1298448"/>
            <a:ext cx="2423160" cy="320040"/>
          </a:xfrm>
          <a:prstGeom prst="rect">
            <a:avLst/>
          </a:prstGeom>
          <a:noFill/>
        </p:spPr>
        <p:txBody>
          <a:bodyPr wrap="square" lIns="36576" tIns="36576" rIns="36576" bIns="36576" anchor="t">
            <a:spAutoFit/>
          </a:bodyPr>
          <a:lstStyle/>
          <a:p>
            <a:pPr algn="l"/>
            <a:r>
              <a:rPr sz="1250" b="1">
                <a:solidFill>
                  <a:srgbClr val="1C1F34"/>
                </a:solidFill>
                <a:latin typeface="Aptos"/>
              </a:rPr>
              <a:t>Working prototype</a:t>
            </a:r>
          </a:p>
        </p:txBody>
      </p:sp>
      <p:sp>
        <p:nvSpPr>
          <p:cNvPr id="6" name="TextBox 5"/>
          <p:cNvSpPr txBox="1"/>
          <p:nvPr/>
        </p:nvSpPr>
        <p:spPr>
          <a:xfrm>
            <a:off x="3657600" y="1298448"/>
            <a:ext cx="6858000" cy="365760"/>
          </a:xfrm>
          <a:prstGeom prst="rect">
            <a:avLst/>
          </a:prstGeom>
          <a:noFill/>
        </p:spPr>
        <p:txBody>
          <a:bodyPr wrap="square" lIns="36576" tIns="36576" rIns="36576" bIns="36576" anchor="t">
            <a:spAutoFit/>
          </a:bodyPr>
          <a:lstStyle/>
          <a:p>
            <a:pPr algn="l"/>
            <a:r>
              <a:rPr sz="1150" b="0" dirty="0">
                <a:solidFill>
                  <a:srgbClr val="5C5B6E"/>
                </a:solidFill>
                <a:latin typeface="Aptos"/>
              </a:rPr>
              <a:t>READY — </a:t>
            </a:r>
            <a:r>
              <a:rPr sz="1150" b="0" dirty="0" err="1">
                <a:solidFill>
                  <a:srgbClr val="5C5B6E"/>
                </a:solidFill>
                <a:latin typeface="Aptos"/>
              </a:rPr>
              <a:t>FlowContext</a:t>
            </a:r>
            <a:r>
              <a:rPr sz="1150" b="0" dirty="0">
                <a:solidFill>
                  <a:srgbClr val="5C5B6E"/>
                </a:solidFill>
                <a:latin typeface="Aptos"/>
              </a:rPr>
              <a:t> repo + </a:t>
            </a:r>
            <a:r>
              <a:rPr sz="1150" b="0" dirty="0" err="1">
                <a:solidFill>
                  <a:srgbClr val="5C5B6E"/>
                </a:solidFill>
                <a:latin typeface="Aptos"/>
              </a:rPr>
              <a:t>Streamlit</a:t>
            </a:r>
            <a:r>
              <a:rPr sz="1150" b="0" dirty="0">
                <a:solidFill>
                  <a:srgbClr val="5C5B6E"/>
                </a:solidFill>
                <a:latin typeface="Aptos"/>
              </a:rPr>
              <a:t> demo</a:t>
            </a:r>
          </a:p>
        </p:txBody>
      </p:sp>
      <p:sp>
        <p:nvSpPr>
          <p:cNvPr id="7" name="TextBox 6"/>
          <p:cNvSpPr txBox="1"/>
          <p:nvPr/>
        </p:nvSpPr>
        <p:spPr>
          <a:xfrm>
            <a:off x="777240" y="2011680"/>
            <a:ext cx="320040" cy="320040"/>
          </a:xfrm>
          <a:prstGeom prst="rect">
            <a:avLst/>
          </a:prstGeom>
          <a:noFill/>
        </p:spPr>
        <p:txBody>
          <a:bodyPr wrap="square" lIns="36576" tIns="36576" rIns="36576" bIns="36576" anchor="t">
            <a:spAutoFit/>
          </a:bodyPr>
          <a:lstStyle/>
          <a:p>
            <a:pPr algn="ctr"/>
            <a:r>
              <a:rPr sz="1500" b="1">
                <a:solidFill>
                  <a:srgbClr val="2A915E"/>
                </a:solidFill>
                <a:latin typeface="Aptos"/>
              </a:rPr>
              <a:t>✓</a:t>
            </a:r>
          </a:p>
        </p:txBody>
      </p:sp>
      <p:sp>
        <p:nvSpPr>
          <p:cNvPr id="8" name="TextBox 7"/>
          <p:cNvSpPr txBox="1"/>
          <p:nvPr/>
        </p:nvSpPr>
        <p:spPr>
          <a:xfrm>
            <a:off x="1234440" y="2011680"/>
            <a:ext cx="2423160" cy="320040"/>
          </a:xfrm>
          <a:prstGeom prst="rect">
            <a:avLst/>
          </a:prstGeom>
          <a:noFill/>
        </p:spPr>
        <p:txBody>
          <a:bodyPr wrap="square" lIns="36576" tIns="36576" rIns="36576" bIns="36576" anchor="t">
            <a:spAutoFit/>
          </a:bodyPr>
          <a:lstStyle/>
          <a:p>
            <a:pPr algn="l"/>
            <a:r>
              <a:rPr sz="1250" b="1">
                <a:solidFill>
                  <a:srgbClr val="1C1F34"/>
                </a:solidFill>
                <a:latin typeface="Aptos"/>
              </a:rPr>
              <a:t>README</a:t>
            </a:r>
          </a:p>
        </p:txBody>
      </p:sp>
      <p:sp>
        <p:nvSpPr>
          <p:cNvPr id="9" name="TextBox 8"/>
          <p:cNvSpPr txBox="1"/>
          <p:nvPr/>
        </p:nvSpPr>
        <p:spPr>
          <a:xfrm>
            <a:off x="3657600" y="2011680"/>
            <a:ext cx="6858000" cy="365760"/>
          </a:xfrm>
          <a:prstGeom prst="rect">
            <a:avLst/>
          </a:prstGeom>
          <a:noFill/>
        </p:spPr>
        <p:txBody>
          <a:bodyPr wrap="square" lIns="36576" tIns="36576" rIns="36576" bIns="36576" anchor="t">
            <a:spAutoFit/>
          </a:bodyPr>
          <a:lstStyle/>
          <a:p>
            <a:pPr algn="l"/>
            <a:r>
              <a:rPr sz="1150" b="0" dirty="0">
                <a:solidFill>
                  <a:srgbClr val="5C5B6E"/>
                </a:solidFill>
                <a:latin typeface="Aptos"/>
              </a:rPr>
              <a:t>READY — reproducible </a:t>
            </a:r>
            <a:r>
              <a:rPr sz="1150" b="0" dirty="0" err="1">
                <a:solidFill>
                  <a:srgbClr val="5C5B6E"/>
                </a:solidFill>
                <a:latin typeface="Aptos"/>
              </a:rPr>
              <a:t>uv</a:t>
            </a:r>
            <a:r>
              <a:rPr sz="1150" b="0" dirty="0">
                <a:solidFill>
                  <a:srgbClr val="5C5B6E"/>
                </a:solidFill>
                <a:latin typeface="Aptos"/>
              </a:rPr>
              <a:t>-based setup</a:t>
            </a:r>
          </a:p>
        </p:txBody>
      </p:sp>
      <p:sp>
        <p:nvSpPr>
          <p:cNvPr id="10" name="TextBox 9"/>
          <p:cNvSpPr txBox="1"/>
          <p:nvPr/>
        </p:nvSpPr>
        <p:spPr>
          <a:xfrm>
            <a:off x="777240" y="2724912"/>
            <a:ext cx="320040" cy="320040"/>
          </a:xfrm>
          <a:prstGeom prst="rect">
            <a:avLst/>
          </a:prstGeom>
          <a:noFill/>
        </p:spPr>
        <p:txBody>
          <a:bodyPr wrap="square" lIns="36576" tIns="36576" rIns="36576" bIns="36576" anchor="t">
            <a:spAutoFit/>
          </a:bodyPr>
          <a:lstStyle/>
          <a:p>
            <a:pPr algn="ctr"/>
            <a:r>
              <a:rPr sz="1500" b="1">
                <a:solidFill>
                  <a:srgbClr val="2A915E"/>
                </a:solidFill>
                <a:latin typeface="Aptos"/>
              </a:rPr>
              <a:t>✓</a:t>
            </a:r>
          </a:p>
        </p:txBody>
      </p:sp>
      <p:sp>
        <p:nvSpPr>
          <p:cNvPr id="11" name="TextBox 10"/>
          <p:cNvSpPr txBox="1"/>
          <p:nvPr/>
        </p:nvSpPr>
        <p:spPr>
          <a:xfrm>
            <a:off x="1234440" y="2724912"/>
            <a:ext cx="2423160" cy="320040"/>
          </a:xfrm>
          <a:prstGeom prst="rect">
            <a:avLst/>
          </a:prstGeom>
          <a:noFill/>
        </p:spPr>
        <p:txBody>
          <a:bodyPr wrap="square" lIns="36576" tIns="36576" rIns="36576" bIns="36576" anchor="t">
            <a:spAutoFit/>
          </a:bodyPr>
          <a:lstStyle/>
          <a:p>
            <a:pPr algn="l"/>
            <a:r>
              <a:rPr sz="1250" b="1">
                <a:solidFill>
                  <a:srgbClr val="1C1F34"/>
                </a:solidFill>
                <a:latin typeface="Aptos"/>
              </a:rPr>
              <a:t>Evaluation evidence</a:t>
            </a:r>
          </a:p>
        </p:txBody>
      </p:sp>
      <p:sp>
        <p:nvSpPr>
          <p:cNvPr id="12" name="TextBox 11"/>
          <p:cNvSpPr txBox="1"/>
          <p:nvPr/>
        </p:nvSpPr>
        <p:spPr>
          <a:xfrm>
            <a:off x="3657600" y="2724912"/>
            <a:ext cx="6858000" cy="365760"/>
          </a:xfrm>
          <a:prstGeom prst="rect">
            <a:avLst/>
          </a:prstGeom>
          <a:noFill/>
        </p:spPr>
        <p:txBody>
          <a:bodyPr wrap="square" lIns="36576" tIns="36576" rIns="36576" bIns="36576" anchor="t">
            <a:spAutoFit/>
          </a:bodyPr>
          <a:lstStyle/>
          <a:p>
            <a:pPr algn="l"/>
            <a:r>
              <a:rPr sz="1150" b="0">
                <a:solidFill>
                  <a:srgbClr val="5C5B6E"/>
                </a:solidFill>
                <a:latin typeface="Aptos"/>
              </a:rPr>
              <a:t>READY — committed local fixture reports</a:t>
            </a:r>
          </a:p>
        </p:txBody>
      </p:sp>
      <p:sp>
        <p:nvSpPr>
          <p:cNvPr id="13" name="TextBox 12"/>
          <p:cNvSpPr txBox="1"/>
          <p:nvPr/>
        </p:nvSpPr>
        <p:spPr>
          <a:xfrm>
            <a:off x="777240" y="3438144"/>
            <a:ext cx="320040" cy="320040"/>
          </a:xfrm>
          <a:prstGeom prst="rect">
            <a:avLst/>
          </a:prstGeom>
          <a:noFill/>
        </p:spPr>
        <p:txBody>
          <a:bodyPr wrap="square" lIns="36576" tIns="36576" rIns="36576" bIns="36576" anchor="t">
            <a:spAutoFit/>
          </a:bodyPr>
          <a:lstStyle/>
          <a:p>
            <a:pPr algn="ctr"/>
            <a:r>
              <a:rPr sz="1500" b="1">
                <a:solidFill>
                  <a:srgbClr val="6A41AE"/>
                </a:solidFill>
                <a:latin typeface="Aptos"/>
              </a:rPr>
              <a:t>•</a:t>
            </a:r>
          </a:p>
        </p:txBody>
      </p:sp>
      <p:sp>
        <p:nvSpPr>
          <p:cNvPr id="14" name="TextBox 13"/>
          <p:cNvSpPr txBox="1"/>
          <p:nvPr/>
        </p:nvSpPr>
        <p:spPr>
          <a:xfrm>
            <a:off x="1234440" y="3438144"/>
            <a:ext cx="2423160" cy="320040"/>
          </a:xfrm>
          <a:prstGeom prst="rect">
            <a:avLst/>
          </a:prstGeom>
          <a:noFill/>
        </p:spPr>
        <p:txBody>
          <a:bodyPr wrap="square" lIns="36576" tIns="36576" rIns="36576" bIns="36576" anchor="t">
            <a:spAutoFit/>
          </a:bodyPr>
          <a:lstStyle/>
          <a:p>
            <a:pPr algn="l"/>
            <a:r>
              <a:rPr sz="1250" b="1">
                <a:solidFill>
                  <a:srgbClr val="1C1F34"/>
                </a:solidFill>
                <a:latin typeface="Aptos"/>
              </a:rPr>
              <a:t>Demo video</a:t>
            </a:r>
          </a:p>
        </p:txBody>
      </p:sp>
      <p:sp>
        <p:nvSpPr>
          <p:cNvPr id="15" name="TextBox 14"/>
          <p:cNvSpPr txBox="1"/>
          <p:nvPr/>
        </p:nvSpPr>
        <p:spPr>
          <a:xfrm>
            <a:off x="3657600" y="3438144"/>
            <a:ext cx="6858000" cy="365760"/>
          </a:xfrm>
          <a:prstGeom prst="rect">
            <a:avLst/>
          </a:prstGeom>
          <a:noFill/>
        </p:spPr>
        <p:txBody>
          <a:bodyPr wrap="square" lIns="36576" tIns="36576" rIns="36576" bIns="36576" anchor="t">
            <a:spAutoFit/>
          </a:bodyPr>
          <a:lstStyle/>
          <a:p>
            <a:pPr algn="l"/>
            <a:r>
              <a:rPr sz="1150" b="0">
                <a:solidFill>
                  <a:srgbClr val="5C5B6E"/>
                </a:solidFill>
                <a:latin typeface="Aptos"/>
              </a:rPr>
              <a:t>READY — MP4 and README player</a:t>
            </a:r>
          </a:p>
        </p:txBody>
      </p:sp>
      <p:sp>
        <p:nvSpPr>
          <p:cNvPr id="16" name="TextBox 15"/>
          <p:cNvSpPr txBox="1"/>
          <p:nvPr/>
        </p:nvSpPr>
        <p:spPr>
          <a:xfrm>
            <a:off x="777240" y="4151376"/>
            <a:ext cx="320040" cy="320040"/>
          </a:xfrm>
          <a:prstGeom prst="rect">
            <a:avLst/>
          </a:prstGeom>
          <a:noFill/>
        </p:spPr>
        <p:txBody>
          <a:bodyPr wrap="square" lIns="36576" tIns="36576" rIns="36576" bIns="36576" anchor="t">
            <a:spAutoFit/>
          </a:bodyPr>
          <a:lstStyle/>
          <a:p>
            <a:pPr algn="ctr"/>
            <a:r>
              <a:rPr sz="1500" b="1" dirty="0">
                <a:solidFill>
                  <a:srgbClr val="2A915E"/>
                </a:solidFill>
                <a:latin typeface="Aptos"/>
              </a:rPr>
              <a:t>✓</a:t>
            </a:r>
          </a:p>
        </p:txBody>
      </p:sp>
      <p:sp>
        <p:nvSpPr>
          <p:cNvPr id="17" name="TextBox 16"/>
          <p:cNvSpPr txBox="1"/>
          <p:nvPr/>
        </p:nvSpPr>
        <p:spPr>
          <a:xfrm>
            <a:off x="1234440" y="4151376"/>
            <a:ext cx="2423160" cy="320040"/>
          </a:xfrm>
          <a:prstGeom prst="rect">
            <a:avLst/>
          </a:prstGeom>
          <a:noFill/>
        </p:spPr>
        <p:txBody>
          <a:bodyPr wrap="square" lIns="36576" tIns="36576" rIns="36576" bIns="36576" anchor="t">
            <a:spAutoFit/>
          </a:bodyPr>
          <a:lstStyle/>
          <a:p>
            <a:pPr algn="l"/>
            <a:r>
              <a:rPr sz="1250" b="1">
                <a:solidFill>
                  <a:srgbClr val="1C1F34"/>
                </a:solidFill>
                <a:latin typeface="Aptos"/>
              </a:rPr>
              <a:t>Presentation</a:t>
            </a:r>
          </a:p>
        </p:txBody>
      </p:sp>
      <p:sp>
        <p:nvSpPr>
          <p:cNvPr id="18" name="TextBox 17"/>
          <p:cNvSpPr txBox="1"/>
          <p:nvPr/>
        </p:nvSpPr>
        <p:spPr>
          <a:xfrm>
            <a:off x="3657600" y="4151376"/>
            <a:ext cx="6858000" cy="365760"/>
          </a:xfrm>
          <a:prstGeom prst="rect">
            <a:avLst/>
          </a:prstGeom>
          <a:noFill/>
        </p:spPr>
        <p:txBody>
          <a:bodyPr wrap="square" lIns="36576" tIns="36576" rIns="36576" bIns="36576" anchor="t">
            <a:spAutoFit/>
          </a:bodyPr>
          <a:lstStyle/>
          <a:p>
            <a:pPr algn="l"/>
            <a:r>
              <a:rPr sz="1150" b="0">
                <a:solidFill>
                  <a:srgbClr val="5C5B6E"/>
                </a:solidFill>
                <a:latin typeface="Aptos"/>
              </a:rPr>
              <a:t>READY — this PPTX</a:t>
            </a:r>
          </a:p>
        </p:txBody>
      </p:sp>
      <p:sp>
        <p:nvSpPr>
          <p:cNvPr id="19" name="TextBox 18"/>
          <p:cNvSpPr txBox="1"/>
          <p:nvPr/>
        </p:nvSpPr>
        <p:spPr>
          <a:xfrm>
            <a:off x="777240" y="4864608"/>
            <a:ext cx="320040" cy="304699"/>
          </a:xfrm>
          <a:prstGeom prst="rect">
            <a:avLst/>
          </a:prstGeom>
          <a:noFill/>
        </p:spPr>
        <p:txBody>
          <a:bodyPr wrap="square" lIns="36576" tIns="36576" rIns="36576" bIns="36576" anchor="t">
            <a:spAutoFit/>
          </a:bodyPr>
          <a:lstStyle/>
          <a:p>
            <a:pPr algn="ctr"/>
            <a:r>
              <a:rPr lang="en-IN" sz="1500" b="1" dirty="0">
                <a:solidFill>
                  <a:srgbClr val="2A915E"/>
                </a:solidFill>
                <a:latin typeface="Aptos"/>
              </a:rPr>
              <a:t>✓</a:t>
            </a:r>
          </a:p>
        </p:txBody>
      </p:sp>
      <p:sp>
        <p:nvSpPr>
          <p:cNvPr id="20" name="TextBox 19"/>
          <p:cNvSpPr txBox="1"/>
          <p:nvPr/>
        </p:nvSpPr>
        <p:spPr>
          <a:xfrm>
            <a:off x="1234440" y="4864608"/>
            <a:ext cx="2423160" cy="320040"/>
          </a:xfrm>
          <a:prstGeom prst="rect">
            <a:avLst/>
          </a:prstGeom>
          <a:noFill/>
        </p:spPr>
        <p:txBody>
          <a:bodyPr wrap="square" lIns="36576" tIns="36576" rIns="36576" bIns="36576" anchor="t">
            <a:spAutoFit/>
          </a:bodyPr>
          <a:lstStyle/>
          <a:p>
            <a:pPr algn="l"/>
            <a:r>
              <a:rPr sz="1250" b="1" dirty="0">
                <a:solidFill>
                  <a:srgbClr val="1C1F34"/>
                </a:solidFill>
                <a:latin typeface="Aptos"/>
              </a:rPr>
              <a:t>GitHub</a:t>
            </a:r>
          </a:p>
        </p:txBody>
      </p:sp>
      <p:sp>
        <p:nvSpPr>
          <p:cNvPr id="21" name="TextBox 20"/>
          <p:cNvSpPr txBox="1"/>
          <p:nvPr/>
        </p:nvSpPr>
        <p:spPr>
          <a:xfrm>
            <a:off x="3657600" y="4864608"/>
            <a:ext cx="6858000" cy="365760"/>
          </a:xfrm>
          <a:prstGeom prst="rect">
            <a:avLst/>
          </a:prstGeom>
          <a:noFill/>
        </p:spPr>
        <p:txBody>
          <a:bodyPr wrap="square" lIns="36576" tIns="36576" rIns="36576" bIns="36576" anchor="t">
            <a:spAutoFit/>
          </a:bodyPr>
          <a:lstStyle/>
          <a:p>
            <a:pPr algn="l"/>
            <a:r>
              <a:rPr sz="1150" b="0" dirty="0" err="1">
                <a:solidFill>
                  <a:srgbClr val="5C5B6E"/>
                </a:solidFill>
                <a:latin typeface="Aptos"/>
              </a:rPr>
              <a:t>github.com</a:t>
            </a:r>
            <a:r>
              <a:rPr sz="1150" b="0" dirty="0">
                <a:solidFill>
                  <a:srgbClr val="5C5B6E"/>
                </a:solidFill>
                <a:latin typeface="Aptos"/>
              </a:rPr>
              <a:t>/Madhumasa84/</a:t>
            </a:r>
            <a:r>
              <a:rPr sz="1150" b="0" dirty="0" err="1">
                <a:solidFill>
                  <a:srgbClr val="5C5B6E"/>
                </a:solidFill>
                <a:latin typeface="Aptos"/>
              </a:rPr>
              <a:t>Samsung_Prism</a:t>
            </a:r>
            <a:endParaRPr sz="1150" b="0" dirty="0">
              <a:solidFill>
                <a:srgbClr val="5C5B6E"/>
              </a:solidFill>
              <a:latin typeface="Aptos"/>
            </a:endParaRPr>
          </a:p>
        </p:txBody>
      </p:sp>
      <p:sp>
        <p:nvSpPr>
          <p:cNvPr id="23" name="TextBox 22"/>
          <p:cNvSpPr txBox="1"/>
          <p:nvPr/>
        </p:nvSpPr>
        <p:spPr>
          <a:xfrm>
            <a:off x="10652760" y="5961888"/>
            <a:ext cx="320040" cy="182880"/>
          </a:xfrm>
          <a:prstGeom prst="rect">
            <a:avLst/>
          </a:prstGeom>
          <a:noFill/>
        </p:spPr>
        <p:txBody>
          <a:bodyPr wrap="square" lIns="36576" tIns="36576" rIns="36576" bIns="36576" anchor="t">
            <a:spAutoFit/>
          </a:bodyPr>
          <a:lstStyle/>
          <a:p>
            <a:pPr algn="r"/>
            <a:r>
              <a:rPr sz="700" b="0">
                <a:solidFill>
                  <a:srgbClr val="5C5B6E"/>
                </a:solidFill>
                <a:latin typeface="Aptos"/>
              </a:rPr>
              <a:t>11</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
        <p:nvSpPr>
          <p:cNvPr id="29" name="TextBox 28"/>
          <p:cNvSpPr txBox="1"/>
          <p:nvPr/>
        </p:nvSpPr>
        <p:spPr>
          <a:xfrm>
            <a:off x="731520" y="5166360"/>
            <a:ext cx="9601200" cy="411480"/>
          </a:xfrm>
          <a:prstGeom prst="rect">
            <a:avLst/>
          </a:prstGeom>
          <a:noFill/>
        </p:spPr>
        <p:txBody>
          <a:bodyPr wrap="square" lIns="36576" tIns="36576" rIns="36576" bIns="36576" anchor="t">
            <a:spAutoFit/>
          </a:bodyPr>
          <a:lstStyle/>
          <a:p>
            <a:pPr algn="ctr"/>
            <a:r>
              <a:rPr sz="1400" b="1">
                <a:solidFill>
                  <a:srgbClr val="6A41AE"/>
                </a:solidFill>
                <a:latin typeface="Aptos"/>
              </a:rPr>
              <a:t>FlowContext  •  Streaming Live RAG  •  Team Makar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92</TotalTime>
  <Words>1327</Words>
  <Application>Microsoft Macintosh PowerPoint</Application>
  <PresentationFormat>Widescreen</PresentationFormat>
  <Paragraphs>204</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Karthikeya P</cp:lastModifiedBy>
  <cp:revision>12</cp:revision>
  <dcterms:created xsi:type="dcterms:W3CDTF">2026-09-07T12:01:01Z</dcterms:created>
  <dcterms:modified xsi:type="dcterms:W3CDTF">2026-09-30T10:27:46Z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